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3"/>
  </p:notesMasterIdLst>
  <p:sldIdLst>
    <p:sldId id="256" r:id="rId5"/>
    <p:sldId id="257" r:id="rId6"/>
    <p:sldId id="258" r:id="rId7"/>
    <p:sldId id="259" r:id="rId8"/>
    <p:sldId id="260" r:id="rId9"/>
    <p:sldId id="264" r:id="rId10"/>
    <p:sldId id="262" r:id="rId11"/>
    <p:sldId id="263" r:id="rId12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991E693-B756-4A0A-B1ED-42F167653D84}" v="325" dt="2026-05-07T07:16:42.548"/>
    <p1510:client id="{4A7041EF-451B-5B4B-8C7D-6BC608385F5A}" v="42" dt="2026-05-07T06:57:45.388"/>
    <p1510:client id="{511A6FFB-9686-E1B4-AEBE-8EB8C70EEBC9}" v="37" vWet="38" dt="2026-05-07T06:45:00.956"/>
    <p1510:client id="{C6953A66-8244-1E1A-BDEE-3B1BA6E5C6B0}" v="6" dt="2026-05-07T06:51:01.924"/>
    <p1510:client id="{DDD22930-5105-670B-5522-32ACCD02A96F}" v="24" dt="2026-05-07T07:02:11.702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6" d="100"/>
          <a:sy n="76" d="100"/>
        </p:scale>
        <p:origin x="272" y="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18" Type="http://schemas.microsoft.com/office/2015/10/relationships/revisionInfo" Target="revisionInfo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2190108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C064DA8-3A30-3B5F-2553-46F88ECF846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BC58287D-0C34-DE20-390E-AE4DB552BA57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F661ADEC-C35B-B388-E66E-764BF5A0EDE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53DCC8F-ABF6-4DDE-58F2-F4DD410C02C5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5462375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png"/><Relationship Id="rId7" Type="http://schemas.openxmlformats.org/officeDocument/2006/relationships/image" Target="../media/image5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7" Type="http://schemas.openxmlformats.org/officeDocument/2006/relationships/image" Target="../media/image11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164592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0" y="6693408"/>
            <a:ext cx="12161520" cy="164592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731520" y="914400"/>
            <a:ext cx="106984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5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Visualisation</a:t>
            </a:r>
            <a:endParaRPr lang="en-US" sz="5600"/>
          </a:p>
        </p:txBody>
      </p:sp>
      <p:sp>
        <p:nvSpPr>
          <p:cNvPr id="5" name="Text 3"/>
          <p:cNvSpPr/>
          <p:nvPr/>
        </p:nvSpPr>
        <p:spPr>
          <a:xfrm>
            <a:off x="731520" y="1965960"/>
            <a:ext cx="106984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4600">
                <a:solidFill>
                  <a:srgbClr val="F4A3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End Sem Project</a:t>
            </a:r>
            <a:endParaRPr lang="en-US" sz="4600"/>
          </a:p>
        </p:txBody>
      </p:sp>
      <p:sp>
        <p:nvSpPr>
          <p:cNvPr id="6" name="Shape 4"/>
          <p:cNvSpPr/>
          <p:nvPr/>
        </p:nvSpPr>
        <p:spPr>
          <a:xfrm>
            <a:off x="2286000" y="3017520"/>
            <a:ext cx="7589520" cy="3657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731520" y="3246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>
                <a:solidFill>
                  <a:srgbClr val="7A9CC0"/>
                </a:solidFill>
              </a:rPr>
              <a:t>DATASET</a:t>
            </a:r>
            <a:endParaRPr lang="en-US" sz="1100"/>
          </a:p>
        </p:txBody>
      </p:sp>
      <p:sp>
        <p:nvSpPr>
          <p:cNvPr id="8" name="Text 6"/>
          <p:cNvSpPr/>
          <p:nvPr/>
        </p:nvSpPr>
        <p:spPr>
          <a:xfrm>
            <a:off x="731520" y="3566160"/>
            <a:ext cx="1069848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chemeClr val="tx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Lok Sabha Election Results 2024</a:t>
            </a:r>
            <a:endParaRPr lang="en-US" sz="2400" dirty="0">
              <a:solidFill>
                <a:schemeClr val="tx2"/>
              </a:solidFill>
            </a:endParaRPr>
          </a:p>
        </p:txBody>
      </p:sp>
      <p:sp>
        <p:nvSpPr>
          <p:cNvPr id="9" name="Shape 7"/>
          <p:cNvSpPr/>
          <p:nvPr/>
        </p:nvSpPr>
        <p:spPr>
          <a:xfrm>
            <a:off x="2286000" y="4206240"/>
            <a:ext cx="7589520" cy="36576"/>
          </a:xfrm>
          <a:prstGeom prst="rect">
            <a:avLst/>
          </a:prstGeom>
          <a:solidFill>
            <a:srgbClr val="3A5A8A"/>
          </a:solidFill>
          <a:ln w="12700">
            <a:solidFill>
              <a:srgbClr val="3A5A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Text 8"/>
          <p:cNvSpPr/>
          <p:nvPr/>
        </p:nvSpPr>
        <p:spPr>
          <a:xfrm>
            <a:off x="731520" y="4389120"/>
            <a:ext cx="10698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kern="0" spc="400">
                <a:solidFill>
                  <a:srgbClr val="7A9CC0"/>
                </a:solidFill>
              </a:rPr>
              <a:t>GROUP MEMBERS</a:t>
            </a:r>
            <a:endParaRPr lang="en-US" sz="1100"/>
          </a:p>
        </p:txBody>
      </p:sp>
      <p:sp>
        <p:nvSpPr>
          <p:cNvPr id="11" name="Text 9"/>
          <p:cNvSpPr/>
          <p:nvPr/>
        </p:nvSpPr>
        <p:spPr>
          <a:xfrm>
            <a:off x="731520" y="4754880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Pranika S</a:t>
            </a:r>
            <a:endParaRPr lang="en-US" sz="1900"/>
          </a:p>
        </p:txBody>
      </p:sp>
      <p:sp>
        <p:nvSpPr>
          <p:cNvPr id="12" name="Text 10"/>
          <p:cNvSpPr/>
          <p:nvPr/>
        </p:nvSpPr>
        <p:spPr>
          <a:xfrm>
            <a:off x="731520" y="5193792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Nethra Vijayabaskar</a:t>
            </a:r>
            <a:endParaRPr lang="en-US" sz="1900"/>
          </a:p>
        </p:txBody>
      </p:sp>
      <p:sp>
        <p:nvSpPr>
          <p:cNvPr id="13" name="Text 11"/>
          <p:cNvSpPr/>
          <p:nvPr/>
        </p:nvSpPr>
        <p:spPr>
          <a:xfrm>
            <a:off x="731520" y="5632704"/>
            <a:ext cx="10698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90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Priyadarshini R</a:t>
            </a:r>
            <a:endParaRPr lang="en-US" sz="19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BF5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Data Quality &amp; Cleaning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3931920" y="258444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28600" y="1024128"/>
            <a:ext cx="2697480" cy="5394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28600" y="1042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A1A2E"/>
                </a:solidFill>
              </a:rPr>
              <a:t>543</a:t>
            </a:r>
            <a:endParaRPr lang="en-US" sz="2600"/>
          </a:p>
        </p:txBody>
      </p:sp>
      <p:sp>
        <p:nvSpPr>
          <p:cNvPr id="7" name="Text 5"/>
          <p:cNvSpPr/>
          <p:nvPr/>
        </p:nvSpPr>
        <p:spPr>
          <a:xfrm>
            <a:off x="228600" y="1293876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5FF"/>
                </a:solidFill>
              </a:rPr>
              <a:t>Raw Rows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3154680" y="1024128"/>
            <a:ext cx="2697480" cy="53949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154680" y="1042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A1A2E"/>
                </a:solidFill>
              </a:rPr>
              <a:t>8</a:t>
            </a:r>
            <a:endParaRPr lang="en-US" sz="2600"/>
          </a:p>
        </p:txBody>
      </p:sp>
      <p:sp>
        <p:nvSpPr>
          <p:cNvPr id="10" name="Text 8"/>
          <p:cNvSpPr/>
          <p:nvPr/>
        </p:nvSpPr>
        <p:spPr>
          <a:xfrm>
            <a:off x="3154680" y="12893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5FF"/>
                </a:solidFill>
              </a:rPr>
              <a:t>Columns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080760" y="1024128"/>
            <a:ext cx="2697480" cy="539496"/>
          </a:xfrm>
          <a:prstGeom prst="rect">
            <a:avLst/>
          </a:prstGeom>
          <a:solidFill>
            <a:srgbClr val="8D3A00"/>
          </a:solidFill>
          <a:ln w="12700">
            <a:solidFill>
              <a:srgbClr val="8D3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6080760" y="1042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A1A2E"/>
                </a:solidFill>
              </a:rPr>
              <a:t>7</a:t>
            </a:r>
            <a:endParaRPr lang="en-US" sz="2600"/>
          </a:p>
        </p:txBody>
      </p:sp>
      <p:sp>
        <p:nvSpPr>
          <p:cNvPr id="13" name="Text 11"/>
          <p:cNvSpPr/>
          <p:nvPr/>
        </p:nvSpPr>
        <p:spPr>
          <a:xfrm>
            <a:off x="6080760" y="1307592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5FF"/>
                </a:solidFill>
              </a:rPr>
              <a:t>Issues Found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9006840" y="1024128"/>
            <a:ext cx="2697480" cy="557784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9006840" y="1042416"/>
            <a:ext cx="269748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600" b="1">
                <a:solidFill>
                  <a:srgbClr val="1A1A2E"/>
                </a:solidFill>
              </a:rPr>
              <a:t>542</a:t>
            </a:r>
            <a:endParaRPr lang="en-US" sz="2600"/>
          </a:p>
        </p:txBody>
      </p:sp>
      <p:sp>
        <p:nvSpPr>
          <p:cNvPr id="16" name="Text 14"/>
          <p:cNvSpPr/>
          <p:nvPr/>
        </p:nvSpPr>
        <p:spPr>
          <a:xfrm>
            <a:off x="9006840" y="1289304"/>
            <a:ext cx="26974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rgbClr val="D4E5FF"/>
                </a:solidFill>
              </a:rPr>
              <a:t>Clean Records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228600" y="1582564"/>
            <a:ext cx="269748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228600" y="1668780"/>
            <a:ext cx="2697480" cy="256032"/>
          </a:xfrm>
          <a:prstGeom prst="rect">
            <a:avLst/>
          </a:prstGeom>
          <a:solidFill>
            <a:srgbClr val="8D3A00"/>
          </a:solidFill>
          <a:ln w="12700">
            <a:solidFill>
              <a:srgbClr val="8D3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301752" y="16959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#01  Margin: String → Numeric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320040" y="197907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BEFORE:</a:t>
            </a:r>
            <a:endParaRPr lang="en-US" sz="900" dirty="0"/>
          </a:p>
        </p:txBody>
      </p:sp>
      <p:sp>
        <p:nvSpPr>
          <p:cNvPr id="21" name="Text 19"/>
          <p:cNvSpPr/>
          <p:nvPr/>
        </p:nvSpPr>
        <p:spPr>
          <a:xfrm>
            <a:off x="301752" y="2185416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["Margin"]  →  </a:t>
            </a:r>
            <a:r>
              <a:rPr lang="en-US" sz="1050" dirty="0" err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dtype</a:t>
            </a: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: object (string)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301752" y="2542032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FIX (Python):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301752" y="2734056"/>
            <a:ext cx="2551176" cy="502920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338328" y="2798064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["Margin"] = 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pd.to_numeric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["Margin"], errors="coerce")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320040" y="325526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1565C0"/>
                </a:solidFill>
              </a:rPr>
              <a:t>WHY: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320040" y="34015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Margin was stored as string, blocking all arithmetic. 1 non-numeric value (Surat — uncontested) coerced to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NaN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and handled separately.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3154680" y="1581912"/>
            <a:ext cx="2697480" cy="25968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8" name="Shape 26"/>
          <p:cNvSpPr/>
          <p:nvPr/>
        </p:nvSpPr>
        <p:spPr>
          <a:xfrm>
            <a:off x="3154680" y="1665550"/>
            <a:ext cx="269748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3182112" y="1689291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</a:rPr>
              <a:t>#02  Constituency Casing</a:t>
            </a: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30" name="Text 28"/>
          <p:cNvSpPr/>
          <p:nvPr/>
        </p:nvSpPr>
        <p:spPr>
          <a:xfrm>
            <a:off x="3268532" y="1954587"/>
            <a:ext cx="2493724" cy="1671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BEFORE:</a:t>
            </a:r>
            <a:endParaRPr lang="en-US" sz="900" dirty="0"/>
          </a:p>
        </p:txBody>
      </p:sp>
      <p:sp>
        <p:nvSpPr>
          <p:cNvPr id="31" name="Text 29"/>
          <p:cNvSpPr/>
          <p:nvPr/>
        </p:nvSpPr>
        <p:spPr>
          <a:xfrm>
            <a:off x="3227832" y="2203704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125 ALL-CAPS rows (e.g. AJMER, ALWAR) vs 418 Title-case rows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3246120" y="2532888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FIX (Python):</a:t>
            </a:r>
            <a:endParaRPr lang="en-US" sz="900" dirty="0"/>
          </a:p>
        </p:txBody>
      </p:sp>
      <p:sp>
        <p:nvSpPr>
          <p:cNvPr id="33" name="Shape 31"/>
          <p:cNvSpPr/>
          <p:nvPr/>
        </p:nvSpPr>
        <p:spPr>
          <a:xfrm>
            <a:off x="3218688" y="2739748"/>
            <a:ext cx="2551176" cy="478939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4" name="Text 32"/>
          <p:cNvSpPr/>
          <p:nvPr/>
        </p:nvSpPr>
        <p:spPr>
          <a:xfrm>
            <a:off x="3246120" y="2793492"/>
            <a:ext cx="2478024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["Constituency"] = </a:t>
            </a:r>
            <a:r>
              <a:rPr lang="en-US" sz="110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["Constituency"].</a:t>
            </a:r>
            <a:r>
              <a:rPr lang="en-US" sz="110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str.title</a:t>
            </a:r>
            <a:r>
              <a:rPr lang="en-US" sz="11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3246120" y="325526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WHY:</a:t>
            </a:r>
            <a:endParaRPr lang="en-US" sz="900" dirty="0"/>
          </a:p>
        </p:txBody>
      </p:sp>
      <p:sp>
        <p:nvSpPr>
          <p:cNvPr id="36" name="Text 34"/>
          <p:cNvSpPr/>
          <p:nvPr/>
        </p:nvSpPr>
        <p:spPr>
          <a:xfrm>
            <a:off x="3246120" y="340156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Inconsistent casing caused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groupby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/filter mismatches. Standardized to Title Case for uniform string operations.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6096000" y="1938842"/>
            <a:ext cx="2697480" cy="233072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900" b="1" i="0" u="none" strike="noStrike" kern="1200" cap="none" spc="0" normalizeH="0" baseline="0" noProof="0" dirty="0">
                <a:ln>
                  <a:noFill/>
                </a:ln>
                <a:solidFill>
                  <a:srgbClr val="C0392B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BEFORE:</a:t>
            </a:r>
            <a:endParaRPr kumimoji="0" lang="en-US" sz="9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8" name="Shape 36"/>
          <p:cNvSpPr/>
          <p:nvPr/>
        </p:nvSpPr>
        <p:spPr>
          <a:xfrm>
            <a:off x="6096000" y="1668528"/>
            <a:ext cx="2697480" cy="2560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9" name="Text 37"/>
          <p:cNvSpPr/>
          <p:nvPr/>
        </p:nvSpPr>
        <p:spPr>
          <a:xfrm>
            <a:off x="6117336" y="1705104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#03  Missing Trailing Candidate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41" name="Text 39"/>
          <p:cNvSpPr/>
          <p:nvPr/>
        </p:nvSpPr>
        <p:spPr>
          <a:xfrm>
            <a:off x="6182638" y="1983372"/>
            <a:ext cx="2514600" cy="6892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onsolas"/>
                <a:ea typeface="Consolas" pitchFamily="34" charset="-122"/>
                <a:cs typeface="Consolas" pitchFamily="34" charset="-120"/>
              </a:rPr>
              <a:t>Trailing Candidate &amp; Trailing Party: 1 null row (Surat)</a:t>
            </a:r>
            <a:endParaRPr lang="en-US" sz="1100" dirty="0">
              <a:latin typeface="Consolas"/>
            </a:endParaRPr>
          </a:p>
        </p:txBody>
      </p:sp>
      <p:sp>
        <p:nvSpPr>
          <p:cNvPr id="42" name="Text 40"/>
          <p:cNvSpPr/>
          <p:nvPr/>
        </p:nvSpPr>
        <p:spPr>
          <a:xfrm>
            <a:off x="6161762" y="2522617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2E7D32"/>
                </a:solidFill>
              </a:rPr>
              <a:t>FIX (Python):</a:t>
            </a:r>
            <a:endParaRPr lang="en-US" sz="900"/>
          </a:p>
        </p:txBody>
      </p:sp>
      <p:sp>
        <p:nvSpPr>
          <p:cNvPr id="43" name="Shape 41"/>
          <p:cNvSpPr/>
          <p:nvPr/>
        </p:nvSpPr>
        <p:spPr>
          <a:xfrm>
            <a:off x="6101720" y="2752428"/>
            <a:ext cx="2676436" cy="519746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4" name="Text 42"/>
          <p:cNvSpPr/>
          <p:nvPr/>
        </p:nvSpPr>
        <p:spPr>
          <a:xfrm>
            <a:off x="6169612" y="2843784"/>
            <a:ext cx="2540653" cy="368347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err="1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[["Trailing </a:t>
            </a:r>
            <a:r>
              <a:rPr lang="en-US" sz="1100" err="1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Candidate","Trailing</a:t>
            </a:r>
            <a:r>
              <a:rPr lang="en-US" sz="1100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 Party"]] = </a:t>
            </a:r>
            <a:r>
              <a:rPr lang="en-US" sz="1100" err="1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100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[...].</a:t>
            </a:r>
            <a:r>
              <a:rPr lang="en-US" sz="1100" err="1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fillna</a:t>
            </a:r>
            <a:r>
              <a:rPr lang="en-US" sz="1100">
                <a:solidFill>
                  <a:srgbClr val="1B5E20"/>
                </a:solidFill>
                <a:latin typeface="Consolas"/>
                <a:ea typeface="Consolas" pitchFamily="34" charset="-122"/>
                <a:cs typeface="Consolas" pitchFamily="34" charset="-120"/>
              </a:rPr>
              <a:t>("Uncontested")</a:t>
            </a:r>
            <a:endParaRPr lang="en-US" sz="1100">
              <a:latin typeface="Consolas"/>
            </a:endParaRPr>
          </a:p>
        </p:txBody>
      </p:sp>
      <p:sp>
        <p:nvSpPr>
          <p:cNvPr id="45" name="Text 43"/>
          <p:cNvSpPr/>
          <p:nvPr/>
        </p:nvSpPr>
        <p:spPr>
          <a:xfrm>
            <a:off x="6151323" y="331789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>
                <a:solidFill>
                  <a:srgbClr val="1565C0"/>
                </a:solidFill>
              </a:rPr>
              <a:t>WHY</a:t>
            </a:r>
            <a:r>
              <a:rPr lang="en-US" sz="700" b="1">
                <a:solidFill>
                  <a:srgbClr val="1565C0"/>
                </a:solidFill>
              </a:rPr>
              <a:t>:</a:t>
            </a:r>
            <a:endParaRPr lang="en-US" sz="700"/>
          </a:p>
        </p:txBody>
      </p:sp>
      <p:sp>
        <p:nvSpPr>
          <p:cNvPr id="46" name="Text 44"/>
          <p:cNvSpPr/>
          <p:nvPr/>
        </p:nvSpPr>
        <p:spPr>
          <a:xfrm>
            <a:off x="6151323" y="3391129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Surat was uncontested — no opposition candidate filed. Filled with 'Uncontested' to preserve row and signal special status.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47" name="Shape 45"/>
          <p:cNvSpPr/>
          <p:nvPr/>
        </p:nvSpPr>
        <p:spPr>
          <a:xfrm>
            <a:off x="9006840" y="1581912"/>
            <a:ext cx="2697480" cy="254203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8" name="Shape 46"/>
          <p:cNvSpPr/>
          <p:nvPr/>
        </p:nvSpPr>
        <p:spPr>
          <a:xfrm>
            <a:off x="9006840" y="1700784"/>
            <a:ext cx="2697480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49" name="Text 47"/>
          <p:cNvSpPr/>
          <p:nvPr/>
        </p:nvSpPr>
        <p:spPr>
          <a:xfrm>
            <a:off x="9061704" y="1737360"/>
            <a:ext cx="255117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#04  Column Rename: Const. No.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50" name="Text 48"/>
          <p:cNvSpPr/>
          <p:nvPr/>
        </p:nvSpPr>
        <p:spPr>
          <a:xfrm>
            <a:off x="9056527" y="1981910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900" b="1">
                <a:solidFill>
                  <a:srgbClr val="C0392B"/>
                </a:solidFill>
              </a:rPr>
              <a:t> BEFORE:</a:t>
            </a:r>
            <a:endParaRPr lang="en-US" sz="900"/>
          </a:p>
        </p:txBody>
      </p:sp>
      <p:sp>
        <p:nvSpPr>
          <p:cNvPr id="51" name="Text 49"/>
          <p:cNvSpPr/>
          <p:nvPr/>
        </p:nvSpPr>
        <p:spPr>
          <a:xfrm>
            <a:off x="9098280" y="2181700"/>
            <a:ext cx="2514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onsolas"/>
                <a:ea typeface="Consolas" pitchFamily="34" charset="-122"/>
                <a:cs typeface="Consolas" pitchFamily="34" charset="-120"/>
              </a:rPr>
              <a:t>"Const. No." — period &amp; space make column access error-prone</a:t>
            </a:r>
            <a:endParaRPr lang="en-US" sz="1050" dirty="0">
              <a:latin typeface="Consolas"/>
            </a:endParaRPr>
          </a:p>
        </p:txBody>
      </p:sp>
      <p:sp>
        <p:nvSpPr>
          <p:cNvPr id="52" name="Text 50"/>
          <p:cNvSpPr/>
          <p:nvPr/>
        </p:nvSpPr>
        <p:spPr>
          <a:xfrm>
            <a:off x="9087842" y="259344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700" b="1" dirty="0">
                <a:solidFill>
                  <a:srgbClr val="2E7D32"/>
                </a:solidFill>
              </a:rPr>
              <a:t>FIX (</a:t>
            </a:r>
            <a:r>
              <a:rPr lang="en-US" sz="900" b="1" dirty="0">
                <a:solidFill>
                  <a:srgbClr val="2E7D32"/>
                </a:solidFill>
              </a:rPr>
              <a:t>Python</a:t>
            </a:r>
            <a:r>
              <a:rPr lang="en-US" sz="700" b="1" dirty="0">
                <a:solidFill>
                  <a:srgbClr val="2E7D32"/>
                </a:solidFill>
              </a:rPr>
              <a:t>):</a:t>
            </a:r>
            <a:endParaRPr lang="en-US" sz="700" dirty="0"/>
          </a:p>
        </p:txBody>
      </p:sp>
      <p:sp>
        <p:nvSpPr>
          <p:cNvPr id="53" name="Shape 51"/>
          <p:cNvSpPr/>
          <p:nvPr/>
        </p:nvSpPr>
        <p:spPr>
          <a:xfrm>
            <a:off x="9079992" y="2825496"/>
            <a:ext cx="2551176" cy="384048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4" name="Text 52"/>
          <p:cNvSpPr/>
          <p:nvPr/>
        </p:nvSpPr>
        <p:spPr>
          <a:xfrm>
            <a:off x="9106130" y="2791766"/>
            <a:ext cx="2478024" cy="4515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df.rename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(columns={"Const. No.": "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Const_No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"}, 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inplace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=True)</a:t>
            </a:r>
            <a:endParaRPr lang="en-US" sz="1050" dirty="0"/>
          </a:p>
        </p:txBody>
      </p:sp>
      <p:sp>
        <p:nvSpPr>
          <p:cNvPr id="55" name="Text 53"/>
          <p:cNvSpPr/>
          <p:nvPr/>
        </p:nvSpPr>
        <p:spPr>
          <a:xfrm>
            <a:off x="9098280" y="3255264"/>
            <a:ext cx="25146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WHY:</a:t>
            </a:r>
            <a:endParaRPr lang="en-US" sz="900" dirty="0"/>
          </a:p>
        </p:txBody>
      </p:sp>
      <p:sp>
        <p:nvSpPr>
          <p:cNvPr id="56" name="Text 54"/>
          <p:cNvSpPr/>
          <p:nvPr/>
        </p:nvSpPr>
        <p:spPr>
          <a:xfrm>
            <a:off x="9098280" y="3340838"/>
            <a:ext cx="25146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 names with periods/spaces require bracket notation and break attribute access. Renamed to </a:t>
            </a:r>
            <a:r>
              <a:rPr lang="en-US" sz="1200" dirty="0" err="1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snake_case</a:t>
            </a: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for clean scripting.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228600" y="4370832"/>
            <a:ext cx="2843784" cy="241401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8" name="Shape 56"/>
          <p:cNvSpPr/>
          <p:nvPr/>
        </p:nvSpPr>
        <p:spPr>
          <a:xfrm>
            <a:off x="228600" y="4224528"/>
            <a:ext cx="2843784" cy="219456"/>
          </a:xfrm>
          <a:prstGeom prst="rect">
            <a:avLst/>
          </a:prstGeom>
          <a:solidFill>
            <a:srgbClr val="6A1E8A"/>
          </a:solidFill>
          <a:ln w="12700">
            <a:solidFill>
              <a:srgbClr val="6A1E8A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59" name="Text 57"/>
          <p:cNvSpPr/>
          <p:nvPr/>
        </p:nvSpPr>
        <p:spPr>
          <a:xfrm>
            <a:off x="283464" y="4215902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#05  Duplicate Constituency Names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60" name="Text 58"/>
          <p:cNvSpPr/>
          <p:nvPr/>
        </p:nvSpPr>
        <p:spPr>
          <a:xfrm>
            <a:off x="301752" y="448056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BEFORE:</a:t>
            </a:r>
            <a:endParaRPr lang="en-US" sz="900" dirty="0"/>
          </a:p>
        </p:txBody>
      </p:sp>
      <p:sp>
        <p:nvSpPr>
          <p:cNvPr id="61" name="Text 59"/>
          <p:cNvSpPr/>
          <p:nvPr/>
        </p:nvSpPr>
        <p:spPr>
          <a:xfrm>
            <a:off x="301752" y="4688808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Aurangabad ×2 (</a:t>
            </a:r>
            <a:r>
              <a:rPr lang="en-US" sz="1050" dirty="0" err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Maharashtra+Bihar</a:t>
            </a: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), </a:t>
            </a:r>
            <a:r>
              <a:rPr lang="en-US" sz="1050" dirty="0" err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Maharajganj</a:t>
            </a: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×2 (</a:t>
            </a:r>
            <a:r>
              <a:rPr lang="en-US" sz="1050" dirty="0" err="1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UP+Bihar</a:t>
            </a: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)</a:t>
            </a:r>
            <a:endParaRPr lang="en-US" sz="1050" dirty="0"/>
          </a:p>
        </p:txBody>
      </p:sp>
      <p:sp>
        <p:nvSpPr>
          <p:cNvPr id="62" name="Text 60"/>
          <p:cNvSpPr/>
          <p:nvPr/>
        </p:nvSpPr>
        <p:spPr>
          <a:xfrm>
            <a:off x="320040" y="510235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2E7D32"/>
                </a:solidFill>
              </a:rPr>
              <a:t>FIX (Python):</a:t>
            </a:r>
            <a:endParaRPr lang="en-US" sz="900" dirty="0"/>
          </a:p>
        </p:txBody>
      </p:sp>
      <p:sp>
        <p:nvSpPr>
          <p:cNvPr id="63" name="Shape 61"/>
          <p:cNvSpPr/>
          <p:nvPr/>
        </p:nvSpPr>
        <p:spPr>
          <a:xfrm>
            <a:off x="320040" y="5227521"/>
            <a:ext cx="2697480" cy="565462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4" name="Text 62"/>
          <p:cNvSpPr/>
          <p:nvPr/>
        </p:nvSpPr>
        <p:spPr>
          <a:xfrm>
            <a:off x="384048" y="5308437"/>
            <a:ext cx="2734056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Both are valid distinct seats in different states</a:t>
            </a:r>
            <a:endParaRPr lang="en-US" sz="1000" dirty="0"/>
          </a:p>
          <a:p>
            <a:pPr marL="0" indent="0">
              <a:buNone/>
            </a:pPr>
            <a:r>
              <a:rPr lang="en-US" sz="100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Retained as-is; documented in data dictionary</a:t>
            </a:r>
            <a:endParaRPr lang="en-US" sz="1000" dirty="0"/>
          </a:p>
        </p:txBody>
      </p:sp>
      <p:sp>
        <p:nvSpPr>
          <p:cNvPr id="65" name="Text 63"/>
          <p:cNvSpPr/>
          <p:nvPr/>
        </p:nvSpPr>
        <p:spPr>
          <a:xfrm>
            <a:off x="320040" y="5861304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WHY:</a:t>
            </a:r>
            <a:endParaRPr lang="en-US" sz="900" dirty="0"/>
          </a:p>
        </p:txBody>
      </p:sp>
      <p:sp>
        <p:nvSpPr>
          <p:cNvPr id="66" name="Text 64"/>
          <p:cNvSpPr/>
          <p:nvPr/>
        </p:nvSpPr>
        <p:spPr>
          <a:xfrm>
            <a:off x="320040" y="6044184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same-named constituencies exist in different states. Both records are legitimate — retained with documentation note.</a:t>
            </a:r>
            <a:endParaRPr lang="en-US" sz="1200" dirty="0"/>
          </a:p>
        </p:txBody>
      </p:sp>
      <p:sp>
        <p:nvSpPr>
          <p:cNvPr id="67" name="Shape 65"/>
          <p:cNvSpPr/>
          <p:nvPr/>
        </p:nvSpPr>
        <p:spPr>
          <a:xfrm>
            <a:off x="3108960" y="4232552"/>
            <a:ext cx="2843784" cy="255229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8" name="Shape 66"/>
          <p:cNvSpPr/>
          <p:nvPr/>
        </p:nvSpPr>
        <p:spPr>
          <a:xfrm>
            <a:off x="3093502" y="4221502"/>
            <a:ext cx="2843784" cy="266296"/>
          </a:xfrm>
          <a:prstGeom prst="rect">
            <a:avLst/>
          </a:prstGeom>
          <a:solidFill>
            <a:srgbClr val="1565A0"/>
          </a:solidFill>
          <a:ln w="12700">
            <a:solidFill>
              <a:srgbClr val="1565A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9" name="Text 67"/>
          <p:cNvSpPr/>
          <p:nvPr/>
        </p:nvSpPr>
        <p:spPr>
          <a:xfrm>
            <a:off x="3182112" y="4252688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chemeClr val="bg1"/>
                </a:solidFill>
              </a:rPr>
              <a:t>#06  Special Chars in Candidate Names</a:t>
            </a:r>
            <a:endParaRPr lang="en-US" sz="1200" dirty="0">
              <a:solidFill>
                <a:schemeClr val="bg1"/>
              </a:solidFill>
            </a:endParaRPr>
          </a:p>
        </p:txBody>
      </p:sp>
      <p:sp>
        <p:nvSpPr>
          <p:cNvPr id="70" name="Text 68"/>
          <p:cNvSpPr/>
          <p:nvPr/>
        </p:nvSpPr>
        <p:spPr>
          <a:xfrm>
            <a:off x="3200400" y="456117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C0392B"/>
                </a:solidFill>
              </a:rPr>
              <a:t>BEFORE:</a:t>
            </a:r>
            <a:endParaRPr lang="en-US" sz="800" dirty="0"/>
          </a:p>
        </p:txBody>
      </p:sp>
      <p:sp>
        <p:nvSpPr>
          <p:cNvPr id="71" name="Text 69"/>
          <p:cNvSpPr/>
          <p:nvPr/>
        </p:nvSpPr>
        <p:spPr>
          <a:xfrm>
            <a:off x="3200400" y="4706134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1565C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"HASMUKHBHAI PATEL (H.S.PATEL)", "GAJENDRAN, G.V."</a:t>
            </a:r>
            <a:endParaRPr lang="en-US" sz="1050" dirty="0"/>
          </a:p>
        </p:txBody>
      </p:sp>
      <p:sp>
        <p:nvSpPr>
          <p:cNvPr id="72" name="Text 70"/>
          <p:cNvSpPr/>
          <p:nvPr/>
        </p:nvSpPr>
        <p:spPr>
          <a:xfrm>
            <a:off x="3200400" y="510235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FIX (Python):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3182112" y="5239512"/>
            <a:ext cx="2651760" cy="585216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4" name="Text 72"/>
          <p:cNvSpPr/>
          <p:nvPr/>
        </p:nvSpPr>
        <p:spPr>
          <a:xfrm>
            <a:off x="3218688" y="5353812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["Leading Candidate"] = 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df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["Leading Candidate"].</a:t>
            </a:r>
            <a:r>
              <a:rPr lang="en-US" sz="1050" dirty="0" err="1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str.strip</a:t>
            </a: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()</a:t>
            </a:r>
            <a:endParaRPr lang="en-US" sz="1050" dirty="0"/>
          </a:p>
          <a:p>
            <a:pPr marL="0" indent="0">
              <a:buNone/>
            </a:pPr>
            <a:r>
              <a:rPr lang="en-US" sz="1050" dirty="0">
                <a:solidFill>
                  <a:srgbClr val="1B5E2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Parentheses retained — official ECI names</a:t>
            </a:r>
            <a:endParaRPr lang="en-US" sz="1050" dirty="0"/>
          </a:p>
        </p:txBody>
      </p:sp>
      <p:sp>
        <p:nvSpPr>
          <p:cNvPr id="75" name="Text 73"/>
          <p:cNvSpPr/>
          <p:nvPr/>
        </p:nvSpPr>
        <p:spPr>
          <a:xfrm>
            <a:off x="3200400" y="5885201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1565C0"/>
                </a:solidFill>
              </a:rPr>
              <a:t>WHY:</a:t>
            </a:r>
            <a:endParaRPr lang="en-US" sz="900" dirty="0"/>
          </a:p>
        </p:txBody>
      </p:sp>
      <p:sp>
        <p:nvSpPr>
          <p:cNvPr id="76" name="Text 74"/>
          <p:cNvSpPr/>
          <p:nvPr/>
        </p:nvSpPr>
        <p:spPr>
          <a:xfrm>
            <a:off x="3200400" y="6070496"/>
            <a:ext cx="246888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Parentheses/commas are part of official ECI candidate names. Whitespace stripped only — no valid characters removed.</a:t>
            </a:r>
            <a:endParaRPr lang="en-US" sz="1200" dirty="0"/>
          </a:p>
        </p:txBody>
      </p:sp>
      <p:sp>
        <p:nvSpPr>
          <p:cNvPr id="77" name="Shape 75"/>
          <p:cNvSpPr/>
          <p:nvPr/>
        </p:nvSpPr>
        <p:spPr>
          <a:xfrm>
            <a:off x="6105656" y="4342800"/>
            <a:ext cx="2703951" cy="243550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8" name="Shape 76"/>
          <p:cNvSpPr/>
          <p:nvPr/>
        </p:nvSpPr>
        <p:spPr>
          <a:xfrm>
            <a:off x="6101720" y="4345480"/>
            <a:ext cx="2703951" cy="244808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9" name="Text 77"/>
          <p:cNvSpPr/>
          <p:nvPr/>
        </p:nvSpPr>
        <p:spPr>
          <a:xfrm>
            <a:off x="6166334" y="4402229"/>
            <a:ext cx="250545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chemeClr val="bg1"/>
                </a:solidFill>
              </a:rPr>
              <a:t>#07  Trailing Party Whitespace</a:t>
            </a:r>
            <a:endParaRPr lang="en-US" sz="1400" dirty="0">
              <a:solidFill>
                <a:schemeClr val="bg1"/>
              </a:solidFill>
            </a:endParaRPr>
          </a:p>
        </p:txBody>
      </p:sp>
      <p:sp>
        <p:nvSpPr>
          <p:cNvPr id="80" name="Text 78"/>
          <p:cNvSpPr/>
          <p:nvPr/>
        </p:nvSpPr>
        <p:spPr>
          <a:xfrm>
            <a:off x="6184622" y="4671650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C0392B"/>
                </a:solidFill>
              </a:rPr>
              <a:t>BEFORE:</a:t>
            </a:r>
            <a:endParaRPr lang="en-US" sz="900" dirty="0"/>
          </a:p>
        </p:txBody>
      </p:sp>
      <p:sp>
        <p:nvSpPr>
          <p:cNvPr id="81" name="Text 79"/>
          <p:cNvSpPr/>
          <p:nvPr/>
        </p:nvSpPr>
        <p:spPr>
          <a:xfrm>
            <a:off x="6228358" y="480881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dirty="0">
                <a:solidFill>
                  <a:srgbClr val="1565C0"/>
                </a:solidFill>
                <a:latin typeface="Consolas"/>
                <a:ea typeface="Consolas" pitchFamily="34" charset="-122"/>
                <a:cs typeface="Consolas" pitchFamily="34" charset="-120"/>
              </a:rPr>
              <a:t>1 trailing party entry had invisible leading whitespace</a:t>
            </a:r>
            <a:endParaRPr lang="en-US" sz="1100" dirty="0">
              <a:latin typeface="Consolas"/>
            </a:endParaRPr>
          </a:p>
        </p:txBody>
      </p:sp>
      <p:sp>
        <p:nvSpPr>
          <p:cNvPr id="82" name="Text 80"/>
          <p:cNvSpPr/>
          <p:nvPr/>
        </p:nvSpPr>
        <p:spPr>
          <a:xfrm>
            <a:off x="6219255" y="5102352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b="1" dirty="0">
                <a:solidFill>
                  <a:srgbClr val="2E7D32"/>
                </a:solidFill>
              </a:rPr>
              <a:t>FIX (Python):</a:t>
            </a:r>
            <a:endParaRPr lang="en-US" sz="800" dirty="0"/>
          </a:p>
        </p:txBody>
      </p:sp>
      <p:sp>
        <p:nvSpPr>
          <p:cNvPr id="83" name="Shape 81"/>
          <p:cNvSpPr/>
          <p:nvPr/>
        </p:nvSpPr>
        <p:spPr>
          <a:xfrm>
            <a:off x="6197648" y="5220097"/>
            <a:ext cx="2484580" cy="715485"/>
          </a:xfrm>
          <a:prstGeom prst="rect">
            <a:avLst/>
          </a:prstGeom>
          <a:solidFill>
            <a:srgbClr val="EAF4EA"/>
          </a:solidFill>
          <a:ln w="12700">
            <a:solidFill>
              <a:srgbClr val="B8DFB8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4" name="Text 82"/>
          <p:cNvSpPr/>
          <p:nvPr/>
        </p:nvSpPr>
        <p:spPr>
          <a:xfrm>
            <a:off x="6283222" y="5466398"/>
            <a:ext cx="2494934" cy="1883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rtl="0"/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df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["Trailing Party"] = 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df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["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TrailingParty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"].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str.strip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000" b="0" i="0" dirty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</a:p>
          <a:p>
            <a:pPr algn="l" rtl="0"/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df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["Leading Party"] = 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df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["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LeadingParty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"].</a:t>
            </a:r>
            <a:r>
              <a:rPr lang="en-US" sz="1000" b="0" i="0" u="none" strike="noStrike" baseline="0" dirty="0" err="1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str.strip</a:t>
            </a:r>
            <a:r>
              <a:rPr lang="en-US" sz="1000" b="0" i="0" u="none" strike="noStrike" baseline="0" dirty="0">
                <a:solidFill>
                  <a:srgbClr val="1B5E20"/>
                </a:solidFill>
                <a:latin typeface="Consolas"/>
                <a:ea typeface="Segoe UI"/>
                <a:cs typeface="Segoe UI"/>
              </a:rPr>
              <a:t>()</a:t>
            </a:r>
            <a:r>
              <a:rPr lang="en-US" sz="1000" b="0" i="0" dirty="0">
                <a:solidFill>
                  <a:srgbClr val="000000"/>
                </a:solidFill>
                <a:latin typeface="Consolas"/>
                <a:ea typeface="Segoe UI"/>
                <a:cs typeface="Segoe UI"/>
              </a:rPr>
              <a:t>​</a:t>
            </a:r>
            <a:endParaRPr lang="en-US" sz="1000" dirty="0">
              <a:solidFill>
                <a:srgbClr val="1B5E20"/>
              </a:solidFill>
              <a:latin typeface="Consolas"/>
            </a:endParaRPr>
          </a:p>
        </p:txBody>
      </p:sp>
      <p:sp>
        <p:nvSpPr>
          <p:cNvPr id="85" name="Text 83"/>
          <p:cNvSpPr/>
          <p:nvPr/>
        </p:nvSpPr>
        <p:spPr>
          <a:xfrm>
            <a:off x="6080760" y="5687568"/>
            <a:ext cx="2468880" cy="1371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650" b="1">
                <a:solidFill>
                  <a:srgbClr val="1565C0"/>
                </a:solidFill>
              </a:rPr>
              <a:t>:</a:t>
            </a:r>
            <a:endParaRPr lang="en-US" sz="650"/>
          </a:p>
        </p:txBody>
      </p:sp>
      <p:sp>
        <p:nvSpPr>
          <p:cNvPr id="86" name="Text 84"/>
          <p:cNvSpPr/>
          <p:nvPr/>
        </p:nvSpPr>
        <p:spPr>
          <a:xfrm>
            <a:off x="6182638" y="6185102"/>
            <a:ext cx="2500194" cy="3399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200" b="1" dirty="0">
                <a:solidFill>
                  <a:srgbClr val="1565C0"/>
                </a:solidFill>
              </a:rPr>
              <a:t>WHY:</a:t>
            </a:r>
            <a:endParaRPr lang="en-US" sz="1200" dirty="0"/>
          </a:p>
          <a:p>
            <a:r>
              <a:rPr lang="en-US" sz="1200" dirty="0">
                <a:solidFill>
                  <a:srgbClr val="64748B"/>
                </a:solidFill>
                <a:latin typeface="Calibri"/>
                <a:ea typeface="Calibri"/>
                <a:cs typeface="Calibri"/>
              </a:rPr>
              <a:t>invisible whitespace breaks group by operations. Applied strip() across  all party name columns for consistency.</a:t>
            </a:r>
            <a:endParaRPr lang="en-US" sz="1200" dirty="0">
              <a:latin typeface="Calibri"/>
              <a:ea typeface="Calibri"/>
              <a:cs typeface="Calibri"/>
            </a:endParaRPr>
          </a:p>
        </p:txBody>
      </p:sp>
      <p:sp>
        <p:nvSpPr>
          <p:cNvPr id="87" name="Shape 85"/>
          <p:cNvSpPr/>
          <p:nvPr/>
        </p:nvSpPr>
        <p:spPr>
          <a:xfrm>
            <a:off x="8869680" y="4370832"/>
            <a:ext cx="3063240" cy="2148840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88" name="Text 86"/>
          <p:cNvSpPr/>
          <p:nvPr/>
        </p:nvSpPr>
        <p:spPr>
          <a:xfrm>
            <a:off x="8979408" y="4462272"/>
            <a:ext cx="2880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chemeClr val="bg1"/>
                </a:solidFill>
              </a:rPr>
              <a:t>✓  Dataset Logical Validity</a:t>
            </a:r>
            <a:endParaRPr lang="en-US" sz="900" dirty="0">
              <a:solidFill>
                <a:schemeClr val="bg1"/>
              </a:solidFill>
            </a:endParaRPr>
          </a:p>
        </p:txBody>
      </p:sp>
      <p:sp>
        <p:nvSpPr>
          <p:cNvPr id="89" name="Text 87"/>
          <p:cNvSpPr/>
          <p:nvPr/>
        </p:nvSpPr>
        <p:spPr>
          <a:xfrm>
            <a:off x="8979408" y="479145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542 valid contested results</a:t>
            </a:r>
            <a:endParaRPr lang="en-US" sz="800"/>
          </a:p>
        </p:txBody>
      </p:sp>
      <p:sp>
        <p:nvSpPr>
          <p:cNvPr id="90" name="Text 88"/>
          <p:cNvSpPr/>
          <p:nvPr/>
        </p:nvSpPr>
        <p:spPr>
          <a:xfrm>
            <a:off x="8979408" y="503834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1 uncontested seat (Surat — BJP)</a:t>
            </a:r>
            <a:endParaRPr lang="en-US" sz="800" dirty="0"/>
          </a:p>
        </p:txBody>
      </p:sp>
      <p:sp>
        <p:nvSpPr>
          <p:cNvPr id="91" name="Text 89"/>
          <p:cNvSpPr/>
          <p:nvPr/>
        </p:nvSpPr>
        <p:spPr>
          <a:xfrm>
            <a:off x="8979408" y="5285232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All margins ≥ 48 votes (min valid)</a:t>
            </a:r>
            <a:endParaRPr lang="en-US" sz="800"/>
          </a:p>
        </p:txBody>
      </p:sp>
      <p:sp>
        <p:nvSpPr>
          <p:cNvPr id="92" name="Text 90"/>
          <p:cNvSpPr/>
          <p:nvPr/>
        </p:nvSpPr>
        <p:spPr>
          <a:xfrm>
            <a:off x="8979408" y="5532120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negative margins found</a:t>
            </a:r>
            <a:endParaRPr lang="en-US" sz="800"/>
          </a:p>
        </p:txBody>
      </p:sp>
      <p:sp>
        <p:nvSpPr>
          <p:cNvPr id="93" name="Text 91"/>
          <p:cNvSpPr/>
          <p:nvPr/>
        </p:nvSpPr>
        <p:spPr>
          <a:xfrm>
            <a:off x="8979408" y="5779008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40+ parties — India's multi-party reality</a:t>
            </a:r>
            <a:endParaRPr lang="en-US" sz="800"/>
          </a:p>
        </p:txBody>
      </p:sp>
      <p:sp>
        <p:nvSpPr>
          <p:cNvPr id="94" name="Text 92"/>
          <p:cNvSpPr/>
          <p:nvPr/>
        </p:nvSpPr>
        <p:spPr>
          <a:xfrm>
            <a:off x="8979408" y="6025896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Status: 542 Declared, 1 Uncontested</a:t>
            </a:r>
            <a:endParaRPr lang="en-US" sz="800"/>
          </a:p>
        </p:txBody>
      </p:sp>
      <p:sp>
        <p:nvSpPr>
          <p:cNvPr id="95" name="Text 93"/>
          <p:cNvSpPr/>
          <p:nvPr/>
        </p:nvSpPr>
        <p:spPr>
          <a:xfrm>
            <a:off x="8979408" y="6272784"/>
            <a:ext cx="2862072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>
                <a:solidFill>
                  <a:srgbClr val="90EE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  No fully duplicate rows detected</a:t>
            </a:r>
            <a:endParaRPr lang="en-US" sz="80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5F0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Analysis of Data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2706624" y="228600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- Key Findings from 2024 Indian General Elections</a:t>
            </a:r>
            <a:endParaRPr lang="en-US" sz="2400" b="1" dirty="0"/>
          </a:p>
        </p:txBody>
      </p:sp>
      <p:sp>
        <p:nvSpPr>
          <p:cNvPr id="5" name="Shape 3"/>
          <p:cNvSpPr/>
          <p:nvPr/>
        </p:nvSpPr>
        <p:spPr>
          <a:xfrm>
            <a:off x="274320" y="960121"/>
            <a:ext cx="5394960" cy="276721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962354"/>
            <a:ext cx="5394960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976174"/>
            <a:ext cx="517550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Key Statistical Findings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274320" y="1702347"/>
            <a:ext cx="512064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BJP dominance: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Won 240 seats (44.2%) — largest single-party haul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INC recovery: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Won 99 seats (18.23%) — significant improvement over 2019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Vote share: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BJP secured ~52.36% of aggregate votes across constituencies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Margin extremes: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Ranges from &lt;1,000 votes to over 1 million (INDORE outlier)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Trailing diversity: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Aurangabad, HAMIRPUR &amp; </a:t>
            </a:r>
            <a:r>
              <a:rPr lang="en-US" sz="1600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Maharajganj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 show 2 unique trailing parties</a:t>
            </a:r>
            <a:endParaRPr lang="en-US" sz="1600" dirty="0">
              <a:latin typeface="Amasis MT Pro Light" panose="020403040500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5897880" y="1097279"/>
            <a:ext cx="5943600" cy="237209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5897880" y="1097280"/>
            <a:ext cx="5943600" cy="2560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6007608" y="1097280"/>
            <a:ext cx="572414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Distribution Insights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5938021" y="1625587"/>
            <a:ext cx="5943600" cy="1508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Regional patterns: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SP strong in UP; DMK dominant in Tamil Nadu; AITMC sweeps Bengal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High-turnout seats: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INDORE, Dhubri, VIDISHA record highest Votes per Constituency (&gt;1M)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Margin vs seat no.: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Lower-numbered constituencies (1-50) tend to show larger victory margins</a:t>
            </a:r>
            <a:endParaRPr lang="en-US" sz="1600" dirty="0">
              <a:latin typeface="Amasis MT Pro Light" panose="02040304050005020304" pitchFamily="18" charset="0"/>
            </a:endParaRPr>
          </a:p>
          <a:p>
            <a:pPr marL="0" indent="0">
              <a:buNone/>
            </a:pPr>
            <a:r>
              <a:rPr lang="en-US" sz="1600" b="1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Alliance impact: </a:t>
            </a: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NDA alliance collectively controls ~55% of all constituencies</a:t>
            </a:r>
            <a:endParaRPr lang="en-US" sz="1600" dirty="0">
              <a:latin typeface="Amasis MT Pro Light" panose="020403040500050203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274320" y="4108928"/>
            <a:ext cx="359359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274320" y="3852896"/>
            <a:ext cx="3593592" cy="256032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43907" y="3856168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Party-wise Seat Distribution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365760" y="4189294"/>
            <a:ext cx="3374136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Bharatiya Janata Party leads with 240 seats followed by INC (99), SP (37), and AITMC (29). Smaller parties like DMK, TDP, and Shiv Sena collectively hold ~15% of remaining seats, indicating a fragmented opposition landscape.</a:t>
            </a:r>
            <a:endParaRPr lang="en-US" sz="1600" dirty="0">
              <a:latin typeface="Amasis MT Pro Light" panose="020403040500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4141225" y="4077553"/>
            <a:ext cx="359359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4141225" y="3821521"/>
            <a:ext cx="3593592" cy="256032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4210812" y="3807701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Margin &amp; Competitiveness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4251960" y="4219956"/>
            <a:ext cx="3374136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The margin distribution is heavily right-skewed. Most constituencies were won by moderate margins (50K–200K votes). A few outliers like INDORE (~1M margin) significantly inflate the mean, suggesting BJP's strongholds are exceptionally secure.</a:t>
            </a:r>
            <a:endParaRPr lang="en-US" sz="1600" dirty="0">
              <a:latin typeface="Amasis MT Pro Light" panose="02040304050005020304" pitchFamily="18" charset="0"/>
            </a:endParaRPr>
          </a:p>
        </p:txBody>
      </p:sp>
      <p:sp>
        <p:nvSpPr>
          <p:cNvPr id="21" name="Shape 19"/>
          <p:cNvSpPr/>
          <p:nvPr/>
        </p:nvSpPr>
        <p:spPr>
          <a:xfrm>
            <a:off x="8008130" y="4077553"/>
            <a:ext cx="3593592" cy="251460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  <a:effectLst>
            <a:outerShdw blurRad="50800" dist="12700" dir="8100000" algn="bl" rotWithShape="0">
              <a:srgbClr val="000000">
                <a:alpha val="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2" name="Shape 20"/>
          <p:cNvSpPr/>
          <p:nvPr/>
        </p:nvSpPr>
        <p:spPr>
          <a:xfrm>
            <a:off x="8008130" y="3815901"/>
            <a:ext cx="3593592" cy="256032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8117858" y="3815901"/>
            <a:ext cx="337413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chemeClr val="bg1"/>
                </a:solidFill>
              </a:rPr>
              <a:t>Vote % Analysis</a:t>
            </a:r>
            <a:endParaRPr lang="en-US" sz="2000" dirty="0">
              <a:solidFill>
                <a:schemeClr val="bg1"/>
              </a:solidFill>
            </a:endParaRPr>
          </a:p>
        </p:txBody>
      </p:sp>
      <p:sp>
        <p:nvSpPr>
          <p:cNvPr id="24" name="Text 22"/>
          <p:cNvSpPr/>
          <p:nvPr/>
        </p:nvSpPr>
        <p:spPr>
          <a:xfrm>
            <a:off x="8119872" y="4108928"/>
            <a:ext cx="3374136" cy="21671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Aggregate vote % analysis shows BJP's commanding national presence. INC holds ~14.78% of votes. Regional parties like DMK (~5.77%) punch above their weight in vote share relative to seat count, reflecting concentrated regional dominance.</a:t>
            </a:r>
            <a:endParaRPr lang="en-US" sz="1600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AF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98024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Dashboard 1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pic>
        <p:nvPicPr>
          <p:cNvPr id="5" name="Image 0" descr="/home/claude/img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194" y="775747"/>
            <a:ext cx="1744894" cy="2574875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1879092" y="775747"/>
            <a:ext cx="1504188" cy="2540742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1985053" y="937757"/>
            <a:ext cx="1412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565C0"/>
                </a:solidFill>
              </a:rPr>
              <a:t>Donut Chart – Seat Share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1890284" y="1605425"/>
            <a:ext cx="14127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Chosen to show part-to-whole relationship at a glance. Viewer immediately sees BJP's commanding 44.2% vs fragmented rest.</a:t>
            </a:r>
            <a:endParaRPr lang="en-US" sz="1400" dirty="0"/>
          </a:p>
        </p:txBody>
      </p:sp>
      <p:sp>
        <p:nvSpPr>
          <p:cNvPr id="10" name="Shape 6"/>
          <p:cNvSpPr/>
          <p:nvPr/>
        </p:nvSpPr>
        <p:spPr>
          <a:xfrm>
            <a:off x="5633618" y="775747"/>
            <a:ext cx="1504188" cy="248915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7"/>
          <p:cNvSpPr/>
          <p:nvPr/>
        </p:nvSpPr>
        <p:spPr>
          <a:xfrm>
            <a:off x="5726137" y="865678"/>
            <a:ext cx="1412748" cy="4937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65C0"/>
                </a:solidFill>
              </a:rPr>
              <a:t>Bar chart– Margin Distribution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5680351" y="1581912"/>
            <a:ext cx="1412748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ea typeface="+mn-lt"/>
                <a:cs typeface="+mn-lt"/>
              </a:rPr>
              <a:t>Winning margins are small — most races were closely fought.</a:t>
            </a:r>
          </a:p>
          <a:p>
            <a:r>
              <a:rPr lang="en-US" sz="1400" dirty="0">
                <a:ea typeface="+mn-lt"/>
                <a:cs typeface="+mn-lt"/>
              </a:rPr>
              <a:t>Indore (∼10 lakh margin) is a one-of-a-kind outlier</a:t>
            </a:r>
            <a:endParaRPr lang="en-US" sz="1400" dirty="0"/>
          </a:p>
        </p:txBody>
      </p:sp>
      <p:pic>
        <p:nvPicPr>
          <p:cNvPr id="13" name="Image 2" descr="/home/claude/img3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10044" y="825324"/>
            <a:ext cx="2567635" cy="2405588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9745675" y="825323"/>
            <a:ext cx="2141525" cy="240558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9829581" y="907339"/>
            <a:ext cx="2005717" cy="54814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1565C0"/>
                </a:solidFill>
              </a:rPr>
              <a:t>Stacked Bar – Party × Constituency Mix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9795126" y="1653571"/>
            <a:ext cx="2074626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Stacked 100% bars expose constituency diversity per party — parties with single-color bars have homogeneous wins; multicolor shows contested wins.</a:t>
            </a:r>
            <a:endParaRPr lang="en-US" sz="1400" dirty="0"/>
          </a:p>
        </p:txBody>
      </p:sp>
      <p:pic>
        <p:nvPicPr>
          <p:cNvPr id="17" name="Image 3" descr="/home/claude/img4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8619" y="4740227"/>
            <a:ext cx="3300940" cy="2044621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118619" y="3421672"/>
            <a:ext cx="3279182" cy="131122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617219" y="3414345"/>
            <a:ext cx="2121706" cy="32097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1565C0"/>
                </a:solidFill>
              </a:rPr>
              <a:t>Scatter Plot – Seat No. vs Margin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01337" y="3429000"/>
            <a:ext cx="3283322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Scatter shows correlation (or lack thereof) between constituency number and margin. Outlier ~1M margin at const #1 (INDORE) is immediately visible.</a:t>
            </a:r>
            <a:endParaRPr lang="en-US" sz="1400" dirty="0"/>
          </a:p>
        </p:txBody>
      </p:sp>
      <p:pic>
        <p:nvPicPr>
          <p:cNvPr id="21" name="Image 4" descr="/home/claude/img5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548472" y="4740227"/>
            <a:ext cx="2866445" cy="1920240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574714" y="3421672"/>
            <a:ext cx="2847913" cy="1311227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3849624" y="3477305"/>
            <a:ext cx="1972336" cy="24430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 err="1">
                <a:solidFill>
                  <a:srgbClr val="1565C0"/>
                </a:solidFill>
              </a:rPr>
              <a:t>Treemap</a:t>
            </a:r>
            <a:r>
              <a:rPr lang="en-US" sz="1200" b="1" dirty="0">
                <a:solidFill>
                  <a:srgbClr val="1565C0"/>
                </a:solidFill>
              </a:rPr>
              <a:t> – Seat Count by Party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613572" y="3517430"/>
            <a:ext cx="298596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 err="1"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 encodes seat count as area — humans excel at area comparison. BJP block dwarfs others, making the dominance viscerally clear.</a:t>
            </a:r>
            <a:endParaRPr lang="en-US" sz="1400" dirty="0"/>
          </a:p>
        </p:txBody>
      </p:sp>
      <p:sp>
        <p:nvSpPr>
          <p:cNvPr id="27" name="Text 19"/>
          <p:cNvSpPr/>
          <p:nvPr/>
        </p:nvSpPr>
        <p:spPr>
          <a:xfrm>
            <a:off x="6785542" y="3517430"/>
            <a:ext cx="2373535" cy="346081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6648919" y="3540753"/>
            <a:ext cx="2793278" cy="1325880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endParaRPr lang="en-US" sz="1400" dirty="0">
              <a:latin typeface="Calibri"/>
              <a:ea typeface="Calibri"/>
              <a:cs typeface="Calibri"/>
            </a:endParaRPr>
          </a:p>
        </p:txBody>
      </p:sp>
      <p:sp>
        <p:nvSpPr>
          <p:cNvPr id="30" name="Shape 21"/>
          <p:cNvSpPr/>
          <p:nvPr/>
        </p:nvSpPr>
        <p:spPr>
          <a:xfrm>
            <a:off x="9548783" y="3429000"/>
            <a:ext cx="2338418" cy="324611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31" name="Text 22"/>
          <p:cNvSpPr/>
          <p:nvPr/>
        </p:nvSpPr>
        <p:spPr>
          <a:xfrm>
            <a:off x="9920905" y="3685942"/>
            <a:ext cx="2059386" cy="488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400" b="1" dirty="0">
                <a:solidFill>
                  <a:srgbClr val="1565C0"/>
                </a:solidFill>
              </a:rPr>
              <a:t>Stacked bar chart</a:t>
            </a:r>
            <a:endParaRPr lang="en-US" sz="1400" dirty="0"/>
          </a:p>
        </p:txBody>
      </p:sp>
      <p:sp>
        <p:nvSpPr>
          <p:cNvPr id="32" name="Text 23"/>
          <p:cNvSpPr/>
          <p:nvPr/>
        </p:nvSpPr>
        <p:spPr>
          <a:xfrm>
            <a:off x="9648990" y="4290373"/>
            <a:ext cx="2216386" cy="1660288"/>
          </a:xfrm>
          <a:prstGeom prst="rect">
            <a:avLst/>
          </a:prstGeom>
          <a:noFill/>
          <a:ln/>
        </p:spPr>
        <p:txBody>
          <a:bodyPr wrap="square" lIns="91440" tIns="45720" rIns="91440" bIns="45720" rtlCol="0" anchor="ctr"/>
          <a:lstStyle/>
          <a:p>
            <a:r>
              <a:rPr lang="en-US" sz="1400" dirty="0">
                <a:solidFill>
                  <a:srgbClr val="1E293B"/>
                </a:solidFill>
                <a:ea typeface="Calibri"/>
                <a:cs typeface="Calibri"/>
              </a:rPr>
              <a:t>It makes it easy to compare </a:t>
            </a:r>
            <a:r>
              <a:rPr lang="en-US" sz="1400" dirty="0" err="1">
                <a:solidFill>
                  <a:srgbClr val="1E293B"/>
                </a:solidFill>
                <a:ea typeface="Calibri"/>
                <a:cs typeface="Calibri"/>
              </a:rPr>
              <a:t>theproportion</a:t>
            </a:r>
            <a:r>
              <a:rPr lang="en-US" sz="1400" dirty="0">
                <a:solidFill>
                  <a:srgbClr val="1E293B"/>
                </a:solidFill>
                <a:ea typeface="Calibri"/>
                <a:cs typeface="Calibri"/>
              </a:rPr>
              <a:t> between two parties </a:t>
            </a:r>
            <a:r>
              <a:rPr lang="en-US" sz="1400" dirty="0" err="1">
                <a:solidFill>
                  <a:srgbClr val="1E293B"/>
                </a:solidFill>
                <a:ea typeface="Calibri"/>
                <a:cs typeface="Calibri"/>
              </a:rPr>
              <a:t>acrossdifferent</a:t>
            </a:r>
            <a:r>
              <a:rPr lang="en-US" sz="1400" dirty="0">
                <a:solidFill>
                  <a:srgbClr val="1E293B"/>
                </a:solidFill>
                <a:ea typeface="Calibri"/>
                <a:cs typeface="Calibri"/>
              </a:rPr>
              <a:t> states in one glance. </a:t>
            </a:r>
            <a:r>
              <a:rPr lang="en-US" sz="1400" dirty="0" err="1">
                <a:solidFill>
                  <a:srgbClr val="1E293B"/>
                </a:solidFill>
                <a:ea typeface="Calibri"/>
                <a:cs typeface="Calibri"/>
              </a:rPr>
              <a:t>BJPdominates</a:t>
            </a:r>
            <a:r>
              <a:rPr lang="en-US" sz="1400" dirty="0">
                <a:solidFill>
                  <a:srgbClr val="1E293B"/>
                </a:solidFill>
                <a:ea typeface="Calibri"/>
                <a:cs typeface="Calibri"/>
              </a:rPr>
              <a:t> most states; INC holds </a:t>
            </a:r>
            <a:r>
              <a:rPr lang="en-US" sz="1400" dirty="0" err="1">
                <a:solidFill>
                  <a:srgbClr val="1E293B"/>
                </a:solidFill>
                <a:ea typeface="Calibri"/>
                <a:cs typeface="Calibri"/>
              </a:rPr>
              <a:t>groundin</a:t>
            </a:r>
            <a:r>
              <a:rPr lang="en-US" sz="1400" dirty="0">
                <a:solidFill>
                  <a:srgbClr val="1E293B"/>
                </a:solidFill>
                <a:ea typeface="Calibri"/>
                <a:cs typeface="Calibri"/>
              </a:rPr>
              <a:t> select regions</a:t>
            </a:r>
            <a:endParaRPr lang="en-US" sz="1400" dirty="0"/>
          </a:p>
        </p:txBody>
      </p:sp>
      <p:pic>
        <p:nvPicPr>
          <p:cNvPr id="35" name="Picture 34">
            <a:extLst>
              <a:ext uri="{FF2B5EF4-FFF2-40B4-BE49-F238E27FC236}">
                <a16:creationId xmlns:a16="http://schemas.microsoft.com/office/drawing/2014/main" id="{CEEC9B64-9008-2363-F519-54040D991FD9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03762" y="780818"/>
            <a:ext cx="2129856" cy="2489156"/>
          </a:xfrm>
          <a:prstGeom prst="rect">
            <a:avLst/>
          </a:prstGeom>
        </p:spPr>
      </p:pic>
      <p:pic>
        <p:nvPicPr>
          <p:cNvPr id="9" name="Picture 8" descr="A screenshot of a graph&#10;&#10;AI-generated content may be incorrect.">
            <a:extLst>
              <a:ext uri="{FF2B5EF4-FFF2-40B4-BE49-F238E27FC236}">
                <a16:creationId xmlns:a16="http://schemas.microsoft.com/office/drawing/2014/main" id="{7469FE05-D5C1-F237-5D55-CE7FBE94CD62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855023" y="3398567"/>
            <a:ext cx="2686050" cy="3276552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365760" y="73152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Visualizations — Dashboard 2</a:t>
            </a:r>
            <a:endParaRPr lang="en-US" sz="260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>
                <a:solidFill>
                  <a:srgbClr val="AEC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Votes · Vote % · Margin Analysis by Constituency</a:t>
            </a:r>
            <a:endParaRPr lang="en-US" sz="1100"/>
          </a:p>
        </p:txBody>
      </p:sp>
      <p:sp>
        <p:nvSpPr>
          <p:cNvPr id="7" name="Text 4"/>
          <p:cNvSpPr/>
          <p:nvPr/>
        </p:nvSpPr>
        <p:spPr>
          <a:xfrm>
            <a:off x="1924812" y="1024128"/>
            <a:ext cx="1412748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750"/>
          </a:p>
        </p:txBody>
      </p:sp>
      <p:sp>
        <p:nvSpPr>
          <p:cNvPr id="8" name="Text 5"/>
          <p:cNvSpPr/>
          <p:nvPr/>
        </p:nvSpPr>
        <p:spPr>
          <a:xfrm>
            <a:off x="1924812" y="1261872"/>
            <a:ext cx="1412748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endParaRPr lang="en-US" sz="700"/>
          </a:p>
        </p:txBody>
      </p:sp>
      <p:pic>
        <p:nvPicPr>
          <p:cNvPr id="9" name="Image 1" descr="/home/claude/img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23134" y="1009447"/>
            <a:ext cx="3214322" cy="2167298"/>
          </a:xfrm>
          <a:prstGeom prst="rect">
            <a:avLst/>
          </a:prstGeom>
        </p:spPr>
      </p:pic>
      <p:sp>
        <p:nvSpPr>
          <p:cNvPr id="10" name="Shape 6"/>
          <p:cNvSpPr/>
          <p:nvPr/>
        </p:nvSpPr>
        <p:spPr>
          <a:xfrm>
            <a:off x="3427019" y="1077123"/>
            <a:ext cx="2218772" cy="197391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 dirty="0"/>
          </a:p>
        </p:txBody>
      </p:sp>
      <p:sp>
        <p:nvSpPr>
          <p:cNvPr id="11" name="Text 7"/>
          <p:cNvSpPr/>
          <p:nvPr/>
        </p:nvSpPr>
        <p:spPr>
          <a:xfrm>
            <a:off x="3648463" y="1252728"/>
            <a:ext cx="1703149" cy="252509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06064"/>
                </a:solidFill>
              </a:rPr>
              <a:t>Matrix Heatmap – Votes per Constituency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3566579" y="1468847"/>
            <a:ext cx="1827961" cy="1695813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Color matrix displays vote density across candidates and parties per constituency. Useful for spotting outliers and high-competition zones.</a:t>
            </a:r>
            <a:endParaRPr lang="en-US" sz="1400" dirty="0"/>
          </a:p>
        </p:txBody>
      </p:sp>
      <p:pic>
        <p:nvPicPr>
          <p:cNvPr id="13" name="Image 2" descr="/home/claude/img10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80131" y="5004180"/>
            <a:ext cx="3377535" cy="1645920"/>
          </a:xfrm>
          <a:prstGeom prst="rect">
            <a:avLst/>
          </a:prstGeom>
        </p:spPr>
      </p:pic>
      <p:sp>
        <p:nvSpPr>
          <p:cNvPr id="14" name="Shape 9"/>
          <p:cNvSpPr/>
          <p:nvPr/>
        </p:nvSpPr>
        <p:spPr>
          <a:xfrm>
            <a:off x="8252818" y="3441801"/>
            <a:ext cx="3377535" cy="1562379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0"/>
          <p:cNvSpPr/>
          <p:nvPr/>
        </p:nvSpPr>
        <p:spPr>
          <a:xfrm>
            <a:off x="8435806" y="3416854"/>
            <a:ext cx="2872103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064"/>
                </a:solidFill>
              </a:rPr>
              <a:t>Funnel Chart – Margin Sum by Party</a:t>
            </a:r>
            <a:endParaRPr lang="en-US" sz="1200" dirty="0"/>
          </a:p>
        </p:txBody>
      </p:sp>
      <p:sp>
        <p:nvSpPr>
          <p:cNvPr id="16" name="Text 11"/>
          <p:cNvSpPr/>
          <p:nvPr/>
        </p:nvSpPr>
        <p:spPr>
          <a:xfrm>
            <a:off x="8330434" y="3609639"/>
            <a:ext cx="2229307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Funnel encodes cumulative margin — widest bar = BJP's massive aggregate margin advantage over others, revealing structural dominance.</a:t>
            </a:r>
            <a:endParaRPr lang="en-US" sz="1400" dirty="0"/>
          </a:p>
        </p:txBody>
      </p:sp>
      <p:pic>
        <p:nvPicPr>
          <p:cNvPr id="17" name="Image 3" descr="/home/claude/img11.png"/>
          <p:cNvPicPr>
            <a:picLocks noChangeAspect="1"/>
          </p:cNvPicPr>
          <p:nvPr/>
        </p:nvPicPr>
        <p:blipFill>
          <a:blip r:embed="rId5"/>
          <a:srcRect t="13461" b="21843"/>
          <a:stretch>
            <a:fillRect/>
          </a:stretch>
        </p:blipFill>
        <p:spPr>
          <a:xfrm>
            <a:off x="223134" y="4693860"/>
            <a:ext cx="3322739" cy="2090988"/>
          </a:xfrm>
          <a:prstGeom prst="rect">
            <a:avLst/>
          </a:prstGeom>
        </p:spPr>
      </p:pic>
      <p:sp>
        <p:nvSpPr>
          <p:cNvPr id="18" name="Shape 12"/>
          <p:cNvSpPr/>
          <p:nvPr/>
        </p:nvSpPr>
        <p:spPr>
          <a:xfrm>
            <a:off x="223134" y="3342130"/>
            <a:ext cx="3291165" cy="1372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3"/>
          <p:cNvSpPr/>
          <p:nvPr/>
        </p:nvSpPr>
        <p:spPr>
          <a:xfrm>
            <a:off x="365761" y="3260531"/>
            <a:ext cx="2929068" cy="4923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064"/>
                </a:solidFill>
              </a:rPr>
              <a:t>Pie Chart – Vote % by Leading Party</a:t>
            </a:r>
            <a:endParaRPr lang="en-US" sz="1200" dirty="0"/>
          </a:p>
        </p:txBody>
      </p:sp>
      <p:sp>
        <p:nvSpPr>
          <p:cNvPr id="20" name="Text 14"/>
          <p:cNvSpPr/>
          <p:nvPr/>
        </p:nvSpPr>
        <p:spPr>
          <a:xfrm>
            <a:off x="266410" y="3434538"/>
            <a:ext cx="3027459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Pie chart shows vote share distribution. BJP's 52.36% slice vs INC's 14.78% is immediately clear — reinforcing seat count data from Dashboard 1.</a:t>
            </a:r>
            <a:endParaRPr lang="en-US" sz="1400" dirty="0"/>
          </a:p>
        </p:txBody>
      </p:sp>
      <p:pic>
        <p:nvPicPr>
          <p:cNvPr id="21" name="Image 4" descr="/home/claude/img12.png"/>
          <p:cNvPicPr>
            <a:picLocks noChangeAspect="1"/>
          </p:cNvPicPr>
          <p:nvPr/>
        </p:nvPicPr>
        <p:blipFill>
          <a:blip r:embed="rId6"/>
          <a:srcRect b="7306"/>
          <a:stretch>
            <a:fillRect/>
          </a:stretch>
        </p:blipFill>
        <p:spPr>
          <a:xfrm>
            <a:off x="3876979" y="4760417"/>
            <a:ext cx="4201546" cy="2059957"/>
          </a:xfrm>
          <a:prstGeom prst="rect">
            <a:avLst/>
          </a:prstGeom>
        </p:spPr>
      </p:pic>
      <p:sp>
        <p:nvSpPr>
          <p:cNvPr id="22" name="Shape 15"/>
          <p:cNvSpPr/>
          <p:nvPr/>
        </p:nvSpPr>
        <p:spPr>
          <a:xfrm>
            <a:off x="3858571" y="3406785"/>
            <a:ext cx="2896417" cy="1325880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3" name="Text 16"/>
          <p:cNvSpPr/>
          <p:nvPr/>
        </p:nvSpPr>
        <p:spPr>
          <a:xfrm>
            <a:off x="3963847" y="3312492"/>
            <a:ext cx="2738455" cy="51027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064"/>
                </a:solidFill>
              </a:rPr>
              <a:t>Bar Chart – Vote % by Constituency</a:t>
            </a:r>
            <a:endParaRPr lang="en-US" sz="1200" dirty="0"/>
          </a:p>
        </p:txBody>
      </p:sp>
      <p:sp>
        <p:nvSpPr>
          <p:cNvPr id="24" name="Text 17"/>
          <p:cNvSpPr/>
          <p:nvPr/>
        </p:nvSpPr>
        <p:spPr>
          <a:xfrm>
            <a:off x="3911161" y="3566160"/>
            <a:ext cx="2738455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Ranked bar reveals top constituencies by vote %. INDORE tops at ~1.4%, confirming its status as the highest-participation single constituency.</a:t>
            </a:r>
            <a:endParaRPr lang="en-US" sz="1400" dirty="0"/>
          </a:p>
        </p:txBody>
      </p:sp>
      <p:pic>
        <p:nvPicPr>
          <p:cNvPr id="25" name="Image 5" descr="/home/claude/img1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774914" y="1077123"/>
            <a:ext cx="3775546" cy="2336815"/>
          </a:xfrm>
          <a:prstGeom prst="rect">
            <a:avLst/>
          </a:prstGeom>
        </p:spPr>
      </p:pic>
      <p:sp>
        <p:nvSpPr>
          <p:cNvPr id="26" name="Shape 18"/>
          <p:cNvSpPr/>
          <p:nvPr/>
        </p:nvSpPr>
        <p:spPr>
          <a:xfrm>
            <a:off x="9550460" y="1342179"/>
            <a:ext cx="2320747" cy="183456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27" name="Text 19"/>
          <p:cNvSpPr/>
          <p:nvPr/>
        </p:nvSpPr>
        <p:spPr>
          <a:xfrm>
            <a:off x="9679583" y="1409780"/>
            <a:ext cx="1678679" cy="34210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06064"/>
                </a:solidFill>
              </a:rPr>
              <a:t>Area Chart – Votes per Constituency Trend</a:t>
            </a:r>
            <a:endParaRPr lang="en-US" sz="1200" dirty="0"/>
          </a:p>
        </p:txBody>
      </p:sp>
      <p:sp>
        <p:nvSpPr>
          <p:cNvPr id="28" name="Text 20"/>
          <p:cNvSpPr/>
          <p:nvPr/>
        </p:nvSpPr>
        <p:spPr>
          <a:xfrm>
            <a:off x="9550460" y="1752665"/>
            <a:ext cx="2229307" cy="1325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latin typeface="Calibri" pitchFamily="34" charset="0"/>
                <a:ea typeface="Calibri" pitchFamily="34" charset="-122"/>
                <a:cs typeface="Calibri" pitchFamily="34" charset="-120"/>
              </a:rPr>
              <a:t>Area chart shows descending vote volume by constituency — smooth decay confirms a power-law distribution with a few hyper-active constituencies.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0FAFA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F461CA6-1605-52CA-EFB5-25AF6281B02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>
            <a:extLst>
              <a:ext uri="{FF2B5EF4-FFF2-40B4-BE49-F238E27FC236}">
                <a16:creationId xmlns:a16="http://schemas.microsoft.com/office/drawing/2014/main" id="{78524631-8835-B02A-442B-FAA1520F7567}"/>
              </a:ext>
            </a:extLst>
          </p:cNvPr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4AC418B-F8BD-DB2B-2F17-DA1B2149A207}"/>
              </a:ext>
            </a:extLst>
          </p:cNvPr>
          <p:cNvSpPr/>
          <p:nvPr/>
        </p:nvSpPr>
        <p:spPr>
          <a:xfrm>
            <a:off x="274320" y="24638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Overview</a:t>
            </a:r>
            <a:endParaRPr lang="en-US" sz="3200" dirty="0"/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AD68AB06-44B7-B1EF-A8A3-9A8D02DE8B11}"/>
              </a:ext>
            </a:extLst>
          </p:cNvPr>
          <p:cNvSpPr/>
          <p:nvPr/>
        </p:nvSpPr>
        <p:spPr>
          <a:xfrm>
            <a:off x="365760" y="621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62CF8C5-9FCE-EC9A-79E3-3B820F1BD73A}"/>
              </a:ext>
            </a:extLst>
          </p:cNvPr>
          <p:cNvSpPr/>
          <p:nvPr/>
        </p:nvSpPr>
        <p:spPr>
          <a:xfrm>
            <a:off x="274320" y="4572000"/>
            <a:ext cx="5577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dirty="0">
                <a:solidFill>
                  <a:schemeClr val="bg1"/>
                </a:solidFill>
              </a:rPr>
              <a:t>Dashboard 1 · Party &amp; Constituency Analysis (Seat Share, Margins, Geo, Trailing Party)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859DD613-ADD6-19E9-287F-38DB7F55C0F5}"/>
              </a:ext>
            </a:extLst>
          </p:cNvPr>
          <p:cNvSpPr/>
          <p:nvPr/>
        </p:nvSpPr>
        <p:spPr>
          <a:xfrm>
            <a:off x="228600" y="6291575"/>
            <a:ext cx="116128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i="1" dirty="0">
                <a:solidFill>
                  <a:srgbClr val="64748B"/>
                </a:solidFill>
              </a:rPr>
              <a:t>Both dashboards built in Power BI · Cross-filtering enabled across all visuals · Designed for exploratory analysis by political analysts &amp; researchers</a:t>
            </a:r>
            <a:endParaRPr lang="en-US" sz="12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0AD80771-6D94-DB15-3105-8EF42B2EF13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9562" y="1041411"/>
            <a:ext cx="11572875" cy="518615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201103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5F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noFill/>
          <a:ln w="952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218115"/>
            <a:ext cx="8229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3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Documentation</a:t>
            </a:r>
            <a:endParaRPr lang="en-US" sz="3600" dirty="0"/>
          </a:p>
        </p:txBody>
      </p:sp>
      <p:sp>
        <p:nvSpPr>
          <p:cNvPr id="4" name="Text 2"/>
          <p:cNvSpPr/>
          <p:nvPr/>
        </p:nvSpPr>
        <p:spPr>
          <a:xfrm>
            <a:off x="365760" y="621792"/>
            <a:ext cx="10058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274320" y="1097279"/>
            <a:ext cx="2651760" cy="5345465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6" name="Shape 4"/>
          <p:cNvSpPr/>
          <p:nvPr/>
        </p:nvSpPr>
        <p:spPr>
          <a:xfrm>
            <a:off x="274320" y="1097280"/>
            <a:ext cx="2651760" cy="310896"/>
          </a:xfrm>
          <a:prstGeom prst="rect">
            <a:avLst/>
          </a:prstGeom>
          <a:solidFill>
            <a:srgbClr val="1565C0"/>
          </a:solidFill>
          <a:ln w="12700">
            <a:solidFill>
              <a:srgbClr val="1565C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365760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Dataset &amp; Schema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8" name="Text 6"/>
          <p:cNvSpPr/>
          <p:nvPr/>
        </p:nvSpPr>
        <p:spPr>
          <a:xfrm>
            <a:off x="365760" y="1755144"/>
            <a:ext cx="243230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Source: 2024 Indian General Elections (ECI)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Format: CSV / Tabular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Records: 542 constituency rows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Columns: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const_no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, constituency,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leading_party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trailing_party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, margin,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votes_per_constituency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,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vote_pct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Data type: Categorical + Numeric</a:t>
            </a:r>
            <a:endParaRPr lang="en-US" dirty="0">
              <a:latin typeface="Amasis MT Pro Light" panose="02040304050005020304" pitchFamily="18" charset="0"/>
            </a:endParaRPr>
          </a:p>
        </p:txBody>
      </p:sp>
      <p:sp>
        <p:nvSpPr>
          <p:cNvPr id="9" name="Shape 7"/>
          <p:cNvSpPr/>
          <p:nvPr/>
        </p:nvSpPr>
        <p:spPr>
          <a:xfrm>
            <a:off x="3182112" y="1097280"/>
            <a:ext cx="2651760" cy="5345464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3182112" y="1097280"/>
            <a:ext cx="2651760" cy="310896"/>
          </a:xfrm>
          <a:prstGeom prst="rect">
            <a:avLst/>
          </a:prstGeom>
          <a:solidFill>
            <a:srgbClr val="006064"/>
          </a:solidFill>
          <a:ln w="12700">
            <a:solidFill>
              <a:srgbClr val="006064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3273552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Tools Used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2" name="Text 10"/>
          <p:cNvSpPr/>
          <p:nvPr/>
        </p:nvSpPr>
        <p:spPr>
          <a:xfrm>
            <a:off x="3264408" y="1666891"/>
            <a:ext cx="243230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Power BI Desktop: All visualizations and dashboards</a:t>
            </a:r>
            <a:endParaRPr lang="en-US" dirty="0">
              <a:latin typeface="Amasis MT Pro Light" panose="020F0502020204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Power Query: Data transformation &amp; cleaning</a:t>
            </a:r>
            <a:endParaRPr lang="en-US" dirty="0">
              <a:latin typeface="Amasis MT Pro Light" panose="020F0502020204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DAX: Calculated measures (Vote %, Margin sum)</a:t>
            </a:r>
            <a:endParaRPr lang="en-US" dirty="0">
              <a:latin typeface="Amasis MT Pro Light" panose="020F0502020204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Python/Pandas: Initial EDA &amp; data profiling</a:t>
            </a:r>
            <a:endParaRPr lang="en-US" dirty="0">
              <a:latin typeface="Amasis MT Pro Light" panose="020F05020202040302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PowerPoint (</a:t>
            </a:r>
            <a:r>
              <a:rPr lang="en-US" dirty="0" err="1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pptxgenjs</a:t>
            </a:r>
            <a:r>
              <a:rPr lang="en-US" dirty="0">
                <a:latin typeface="Amasis MT Pro Light" panose="020F0502020204030204" pitchFamily="18" charset="0"/>
                <a:ea typeface="Calibri" pitchFamily="34" charset="-122"/>
                <a:cs typeface="Calibri" pitchFamily="34" charset="-120"/>
              </a:rPr>
              <a:t>): Presentation generation</a:t>
            </a:r>
            <a:endParaRPr lang="en-US" dirty="0">
              <a:latin typeface="Amasis MT Pro Light" panose="020F0502020204030204" pitchFamily="18" charset="0"/>
            </a:endParaRPr>
          </a:p>
        </p:txBody>
      </p:sp>
      <p:sp>
        <p:nvSpPr>
          <p:cNvPr id="13" name="Shape 11"/>
          <p:cNvSpPr/>
          <p:nvPr/>
        </p:nvSpPr>
        <p:spPr>
          <a:xfrm>
            <a:off x="6089904" y="1097279"/>
            <a:ext cx="2651760" cy="5345463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6089904" y="1097280"/>
            <a:ext cx="2651760" cy="310896"/>
          </a:xfrm>
          <a:prstGeom prst="rect">
            <a:avLst/>
          </a:prstGeom>
          <a:solidFill>
            <a:srgbClr val="2E7D32"/>
          </a:solidFill>
          <a:ln w="12700">
            <a:solidFill>
              <a:srgbClr val="2E7D32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6181344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Data Preprocessing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16" name="Text 14"/>
          <p:cNvSpPr/>
          <p:nvPr/>
        </p:nvSpPr>
        <p:spPr>
          <a:xfrm>
            <a:off x="6199632" y="1646925"/>
            <a:ext cx="243230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Standardized party name strings (removed whitespace, casing)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Derived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vote_pct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 column from raw votes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Removed duplicate constituencies (none found)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Validated margin =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winner_votes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 –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runner_up_votes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Geocoding: Added </a:t>
            </a:r>
            <a:r>
              <a:rPr lang="en-US" dirty="0" err="1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lat</a:t>
            </a: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/long for map visuals (partial)</a:t>
            </a:r>
            <a:endParaRPr lang="en-US" dirty="0">
              <a:latin typeface="Amasis MT Pro Light" panose="02040304050005020304" pitchFamily="18" charset="0"/>
            </a:endParaRPr>
          </a:p>
        </p:txBody>
      </p:sp>
      <p:sp>
        <p:nvSpPr>
          <p:cNvPr id="17" name="Shape 15"/>
          <p:cNvSpPr/>
          <p:nvPr/>
        </p:nvSpPr>
        <p:spPr>
          <a:xfrm>
            <a:off x="8997696" y="1097280"/>
            <a:ext cx="2651760" cy="5253186"/>
          </a:xfrm>
          <a:prstGeom prst="rect">
            <a:avLst/>
          </a:prstGeom>
          <a:solidFill>
            <a:srgbClr val="FFFFFF"/>
          </a:solidFill>
          <a:ln w="12700">
            <a:solidFill>
              <a:srgbClr val="D1DCF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8" name="Shape 16"/>
          <p:cNvSpPr/>
          <p:nvPr/>
        </p:nvSpPr>
        <p:spPr>
          <a:xfrm>
            <a:off x="8997696" y="1097280"/>
            <a:ext cx="2651760" cy="310896"/>
          </a:xfrm>
          <a:prstGeom prst="rect">
            <a:avLst/>
          </a:prstGeom>
          <a:solidFill>
            <a:srgbClr val="8D3A00"/>
          </a:solidFill>
          <a:ln w="12700">
            <a:solidFill>
              <a:srgbClr val="8D3A00"/>
            </a:solidFill>
            <a:prstDash val="solid"/>
          </a:ln>
        </p:spPr>
        <p:txBody>
          <a:bodyPr/>
          <a:lstStyle/>
          <a:p>
            <a:endParaRPr lang="en-IN"/>
          </a:p>
        </p:txBody>
      </p:sp>
      <p:sp>
        <p:nvSpPr>
          <p:cNvPr id="19" name="Text 17"/>
          <p:cNvSpPr/>
          <p:nvPr/>
        </p:nvSpPr>
        <p:spPr>
          <a:xfrm>
            <a:off x="9089136" y="1097280"/>
            <a:ext cx="24688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b="1" dirty="0">
                <a:solidFill>
                  <a:schemeClr val="bg1"/>
                </a:solidFill>
              </a:rPr>
              <a:t>Design Decisions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0" name="Text 18"/>
          <p:cNvSpPr/>
          <p:nvPr/>
        </p:nvSpPr>
        <p:spPr>
          <a:xfrm>
            <a:off x="9107424" y="1666891"/>
            <a:ext cx="2432304" cy="4206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Dashboard 1: Focus on party-level and seat distribution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Dashboard 2: Focus on voter behavior and constituency-level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Used consistent blue palette for BJP, green for INC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Cross-filter enabled: all visuals interact on click</a:t>
            </a:r>
            <a:endParaRPr lang="en-US" dirty="0">
              <a:latin typeface="Amasis MT Pro Light" panose="02040304050005020304" pitchFamily="18" charset="0"/>
            </a:endParaRPr>
          </a:p>
          <a:p>
            <a:pPr marL="342900" indent="-342900">
              <a:buSzPct val="100000"/>
              <a:buChar char="•"/>
            </a:pPr>
            <a:r>
              <a:rPr lang="en-US" dirty="0">
                <a:latin typeface="Amasis MT Pro Light" panose="02040304050005020304" pitchFamily="18" charset="0"/>
                <a:ea typeface="Calibri" pitchFamily="34" charset="-122"/>
                <a:cs typeface="Calibri" pitchFamily="34" charset="-120"/>
              </a:rPr>
              <a:t>Avoided 3D charts — prioritized clarity over decoration</a:t>
            </a:r>
            <a:endParaRPr lang="en-US" dirty="0">
              <a:latin typeface="Amasis MT Pro Light" panose="02040304050005020304" pitchFamily="18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D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960120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" name="Text 1"/>
          <p:cNvSpPr/>
          <p:nvPr/>
        </p:nvSpPr>
        <p:spPr>
          <a:xfrm>
            <a:off x="365760" y="45720"/>
            <a:ext cx="91440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1A1A2E"/>
                </a:solidFill>
              </a:rPr>
              <a:t>Conclusion</a:t>
            </a:r>
            <a:endParaRPr lang="en-US" sz="2400" dirty="0"/>
          </a:p>
        </p:txBody>
      </p:sp>
      <p:sp>
        <p:nvSpPr>
          <p:cNvPr id="4" name="Text 2"/>
          <p:cNvSpPr/>
          <p:nvPr/>
        </p:nvSpPr>
        <p:spPr>
          <a:xfrm>
            <a:off x="365760" y="566928"/>
            <a:ext cx="10972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i="1">
                <a:solidFill>
                  <a:srgbClr val="5C6BC0"/>
                </a:solidFill>
              </a:rPr>
              <a:t>How each visualization contributes to insights &amp; the overall conclusion</a:t>
            </a:r>
            <a:endParaRPr lang="en-US" sz="1600"/>
          </a:p>
        </p:txBody>
      </p:sp>
      <p:sp>
        <p:nvSpPr>
          <p:cNvPr id="5" name="Shape 3"/>
          <p:cNvSpPr/>
          <p:nvPr/>
        </p:nvSpPr>
        <p:spPr>
          <a:xfrm>
            <a:off x="274320" y="1097280"/>
            <a:ext cx="11612880" cy="292608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6" name="Text 4"/>
          <p:cNvSpPr/>
          <p:nvPr/>
        </p:nvSpPr>
        <p:spPr>
          <a:xfrm>
            <a:off x="365760" y="1097280"/>
            <a:ext cx="3474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3E0"/>
                </a:solidFill>
              </a:rPr>
              <a:t>Visualization</a:t>
            </a:r>
            <a:endParaRPr lang="en-US" sz="1600"/>
          </a:p>
        </p:txBody>
      </p:sp>
      <p:sp>
        <p:nvSpPr>
          <p:cNvPr id="7" name="Text 5"/>
          <p:cNvSpPr/>
          <p:nvPr/>
        </p:nvSpPr>
        <p:spPr>
          <a:xfrm>
            <a:off x="3931920" y="1097280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FF3E0"/>
                </a:solidFill>
              </a:rPr>
              <a:t>Insight Derived &amp; Contribution to Conclusion</a:t>
            </a:r>
            <a:endParaRPr lang="en-US" sz="1600"/>
          </a:p>
        </p:txBody>
      </p:sp>
      <p:sp>
        <p:nvSpPr>
          <p:cNvPr id="8" name="Shape 6"/>
          <p:cNvSpPr/>
          <p:nvPr/>
        </p:nvSpPr>
        <p:spPr>
          <a:xfrm>
            <a:off x="274320" y="1389888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9" name="Shape 7"/>
          <p:cNvSpPr/>
          <p:nvPr/>
        </p:nvSpPr>
        <p:spPr>
          <a:xfrm>
            <a:off x="274320" y="1389888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0" name="Text 8"/>
          <p:cNvSpPr/>
          <p:nvPr/>
        </p:nvSpPr>
        <p:spPr>
          <a:xfrm>
            <a:off x="411480" y="142646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F4A300"/>
                </a:solidFill>
              </a:rPr>
              <a:t>Donut Chart (Seat Share)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931920" y="142646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Instantly communicates BJP's 44.2% majority — sets the narrative for single-party dominance</a:t>
            </a:r>
            <a:endParaRPr lang="en-US" sz="1600"/>
          </a:p>
        </p:txBody>
      </p:sp>
      <p:sp>
        <p:nvSpPr>
          <p:cNvPr id="12" name="Shape 10"/>
          <p:cNvSpPr/>
          <p:nvPr/>
        </p:nvSpPr>
        <p:spPr>
          <a:xfrm>
            <a:off x="274320" y="1792224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3" name="Shape 11"/>
          <p:cNvSpPr/>
          <p:nvPr/>
        </p:nvSpPr>
        <p:spPr>
          <a:xfrm>
            <a:off x="274320" y="1792224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4" name="Text 12"/>
          <p:cNvSpPr/>
          <p:nvPr/>
        </p:nvSpPr>
        <p:spPr>
          <a:xfrm>
            <a:off x="411480" y="182880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Stacked Bar (Party×Const.)</a:t>
            </a:r>
            <a:endParaRPr lang="en-US" sz="1600"/>
          </a:p>
        </p:txBody>
      </p:sp>
      <p:sp>
        <p:nvSpPr>
          <p:cNvPr id="15" name="Text 13"/>
          <p:cNvSpPr/>
          <p:nvPr/>
        </p:nvSpPr>
        <p:spPr>
          <a:xfrm>
            <a:off x="3931920" y="182880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Reveals which parties win diversely vs concentrated — DMK wins homogeneous southern seats</a:t>
            </a:r>
            <a:endParaRPr lang="en-US" sz="1600"/>
          </a:p>
        </p:txBody>
      </p:sp>
      <p:sp>
        <p:nvSpPr>
          <p:cNvPr id="16" name="Shape 14"/>
          <p:cNvSpPr/>
          <p:nvPr/>
        </p:nvSpPr>
        <p:spPr>
          <a:xfrm>
            <a:off x="274320" y="2194560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7" name="Shape 15"/>
          <p:cNvSpPr/>
          <p:nvPr/>
        </p:nvSpPr>
        <p:spPr>
          <a:xfrm>
            <a:off x="274320" y="2194560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18" name="Text 16"/>
          <p:cNvSpPr/>
          <p:nvPr/>
        </p:nvSpPr>
        <p:spPr>
          <a:xfrm>
            <a:off x="411480" y="223113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Treemap (Seats by Party)</a:t>
            </a:r>
            <a:endParaRPr lang="en-US" sz="1600"/>
          </a:p>
        </p:txBody>
      </p:sp>
      <p:sp>
        <p:nvSpPr>
          <p:cNvPr id="19" name="Text 17"/>
          <p:cNvSpPr/>
          <p:nvPr/>
        </p:nvSpPr>
        <p:spPr>
          <a:xfrm>
            <a:off x="3931920" y="223113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Area encoding makes NDA vs INDIA bloc contrast tangible and emotionally resonant</a:t>
            </a:r>
            <a:endParaRPr lang="en-US" sz="1600"/>
          </a:p>
        </p:txBody>
      </p:sp>
      <p:sp>
        <p:nvSpPr>
          <p:cNvPr id="20" name="Shape 18"/>
          <p:cNvSpPr/>
          <p:nvPr/>
        </p:nvSpPr>
        <p:spPr>
          <a:xfrm>
            <a:off x="274320" y="2596896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1" name="Shape 19"/>
          <p:cNvSpPr/>
          <p:nvPr/>
        </p:nvSpPr>
        <p:spPr>
          <a:xfrm>
            <a:off x="274320" y="2596896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2" name="Text 20"/>
          <p:cNvSpPr/>
          <p:nvPr/>
        </p:nvSpPr>
        <p:spPr>
          <a:xfrm>
            <a:off x="411480" y="263347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Scatter (Const # vs Margin)</a:t>
            </a:r>
            <a:endParaRPr lang="en-US" sz="1600"/>
          </a:p>
        </p:txBody>
      </p:sp>
      <p:sp>
        <p:nvSpPr>
          <p:cNvPr id="23" name="Text 21"/>
          <p:cNvSpPr/>
          <p:nvPr/>
        </p:nvSpPr>
        <p:spPr>
          <a:xfrm>
            <a:off x="3931920" y="263347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Identifies INDORE as a ≥1M margin outlier — signals a landslide safe seat for BJP</a:t>
            </a:r>
            <a:endParaRPr lang="en-US" sz="1600"/>
          </a:p>
        </p:txBody>
      </p:sp>
      <p:sp>
        <p:nvSpPr>
          <p:cNvPr id="24" name="Shape 22"/>
          <p:cNvSpPr/>
          <p:nvPr/>
        </p:nvSpPr>
        <p:spPr>
          <a:xfrm>
            <a:off x="274320" y="2999232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5" name="Shape 23"/>
          <p:cNvSpPr/>
          <p:nvPr/>
        </p:nvSpPr>
        <p:spPr>
          <a:xfrm>
            <a:off x="274320" y="2999232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6" name="Text 24"/>
          <p:cNvSpPr/>
          <p:nvPr/>
        </p:nvSpPr>
        <p:spPr>
          <a:xfrm>
            <a:off x="411480" y="303580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Funnel (Margin Sum)</a:t>
            </a:r>
            <a:endParaRPr lang="en-US" sz="1600"/>
          </a:p>
        </p:txBody>
      </p:sp>
      <p:sp>
        <p:nvSpPr>
          <p:cNvPr id="27" name="Text 25"/>
          <p:cNvSpPr/>
          <p:nvPr/>
        </p:nvSpPr>
        <p:spPr>
          <a:xfrm>
            <a:off x="3931920" y="303580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Cumulative margin gap proves BJP doesn't just win more — it wins by much larger margins</a:t>
            </a:r>
            <a:endParaRPr lang="en-US" sz="1600"/>
          </a:p>
        </p:txBody>
      </p:sp>
      <p:sp>
        <p:nvSpPr>
          <p:cNvPr id="28" name="Shape 26"/>
          <p:cNvSpPr/>
          <p:nvPr/>
        </p:nvSpPr>
        <p:spPr>
          <a:xfrm>
            <a:off x="274320" y="3401568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29" name="Shape 27"/>
          <p:cNvSpPr/>
          <p:nvPr/>
        </p:nvSpPr>
        <p:spPr>
          <a:xfrm>
            <a:off x="274320" y="3401568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0" name="Text 28"/>
          <p:cNvSpPr/>
          <p:nvPr/>
        </p:nvSpPr>
        <p:spPr>
          <a:xfrm>
            <a:off x="411480" y="3438144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Pie (Vote % by Party)</a:t>
            </a:r>
            <a:endParaRPr lang="en-US" sz="1600"/>
          </a:p>
        </p:txBody>
      </p:sp>
      <p:sp>
        <p:nvSpPr>
          <p:cNvPr id="31" name="Text 29"/>
          <p:cNvSpPr/>
          <p:nvPr/>
        </p:nvSpPr>
        <p:spPr>
          <a:xfrm>
            <a:off x="3931920" y="3438144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52.36% vote share for BJP vs 14.78% INC quantifies popular mandate beyond just seat count</a:t>
            </a:r>
            <a:endParaRPr lang="en-US" sz="1600"/>
          </a:p>
        </p:txBody>
      </p:sp>
      <p:sp>
        <p:nvSpPr>
          <p:cNvPr id="32" name="Shape 30"/>
          <p:cNvSpPr/>
          <p:nvPr/>
        </p:nvSpPr>
        <p:spPr>
          <a:xfrm>
            <a:off x="274320" y="3803904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3" name="Shape 31"/>
          <p:cNvSpPr/>
          <p:nvPr/>
        </p:nvSpPr>
        <p:spPr>
          <a:xfrm>
            <a:off x="274320" y="3803904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4" name="Text 32"/>
          <p:cNvSpPr/>
          <p:nvPr/>
        </p:nvSpPr>
        <p:spPr>
          <a:xfrm>
            <a:off x="411480" y="3840480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Bar (Vote % by Constituency)</a:t>
            </a:r>
            <a:endParaRPr lang="en-US" sz="1600"/>
          </a:p>
        </p:txBody>
      </p:sp>
      <p:sp>
        <p:nvSpPr>
          <p:cNvPr id="35" name="Text 33"/>
          <p:cNvSpPr/>
          <p:nvPr/>
        </p:nvSpPr>
        <p:spPr>
          <a:xfrm>
            <a:off x="3931920" y="3840480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INDORE tops turnout — actionable for election commission planning and resource allocation</a:t>
            </a:r>
            <a:endParaRPr lang="en-US" sz="1600"/>
          </a:p>
        </p:txBody>
      </p:sp>
      <p:sp>
        <p:nvSpPr>
          <p:cNvPr id="36" name="Shape 34"/>
          <p:cNvSpPr/>
          <p:nvPr/>
        </p:nvSpPr>
        <p:spPr>
          <a:xfrm>
            <a:off x="274320" y="4206240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7" name="Shape 35"/>
          <p:cNvSpPr/>
          <p:nvPr/>
        </p:nvSpPr>
        <p:spPr>
          <a:xfrm>
            <a:off x="274320" y="4206240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38" name="Text 36"/>
          <p:cNvSpPr/>
          <p:nvPr/>
        </p:nvSpPr>
        <p:spPr>
          <a:xfrm>
            <a:off x="411480" y="4242816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BAR(Votes per Constituency)</a:t>
            </a:r>
            <a:endParaRPr lang="en-US" sz="1600"/>
          </a:p>
        </p:txBody>
      </p:sp>
      <p:sp>
        <p:nvSpPr>
          <p:cNvPr id="39" name="Text 37"/>
          <p:cNvSpPr/>
          <p:nvPr/>
        </p:nvSpPr>
        <p:spPr>
          <a:xfrm>
            <a:off x="3931920" y="4242816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Power-law decay confirms a few mega-constituencies dominate total voter engagement</a:t>
            </a:r>
            <a:endParaRPr lang="en-US" sz="1600"/>
          </a:p>
        </p:txBody>
      </p:sp>
      <p:sp>
        <p:nvSpPr>
          <p:cNvPr id="40" name="Shape 38"/>
          <p:cNvSpPr/>
          <p:nvPr/>
        </p:nvSpPr>
        <p:spPr>
          <a:xfrm>
            <a:off x="274320" y="4608576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1" name="Shape 39"/>
          <p:cNvSpPr/>
          <p:nvPr/>
        </p:nvSpPr>
        <p:spPr>
          <a:xfrm>
            <a:off x="274320" y="4608576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2" name="Text 40"/>
          <p:cNvSpPr/>
          <p:nvPr/>
        </p:nvSpPr>
        <p:spPr>
          <a:xfrm>
            <a:off x="411480" y="4645152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Map Visuals</a:t>
            </a:r>
            <a:endParaRPr lang="en-US" sz="1600"/>
          </a:p>
        </p:txBody>
      </p:sp>
      <p:sp>
        <p:nvSpPr>
          <p:cNvPr id="43" name="Text 41"/>
          <p:cNvSpPr/>
          <p:nvPr/>
        </p:nvSpPr>
        <p:spPr>
          <a:xfrm>
            <a:off x="3931920" y="4645152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Geographic anchoring surfaces North/East India dominance; exposes South India INC/DMK belt</a:t>
            </a:r>
            <a:endParaRPr lang="en-US" sz="1600"/>
          </a:p>
        </p:txBody>
      </p:sp>
      <p:sp>
        <p:nvSpPr>
          <p:cNvPr id="44" name="Shape 42"/>
          <p:cNvSpPr/>
          <p:nvPr/>
        </p:nvSpPr>
        <p:spPr>
          <a:xfrm>
            <a:off x="274320" y="5010912"/>
            <a:ext cx="11612880" cy="402336"/>
          </a:xfrm>
          <a:prstGeom prst="rect">
            <a:avLst/>
          </a:prstGeom>
          <a:solidFill>
            <a:srgbClr val="FFF3E0"/>
          </a:solidFill>
          <a:ln w="12700">
            <a:solidFill>
              <a:srgbClr val="FFF3E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5" name="Shape 43"/>
          <p:cNvSpPr/>
          <p:nvPr/>
        </p:nvSpPr>
        <p:spPr>
          <a:xfrm>
            <a:off x="274320" y="5010912"/>
            <a:ext cx="54864" cy="402336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6" name="Text 44"/>
          <p:cNvSpPr/>
          <p:nvPr/>
        </p:nvSpPr>
        <p:spPr>
          <a:xfrm>
            <a:off x="411480" y="5047488"/>
            <a:ext cx="33832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 b="1">
                <a:solidFill>
                  <a:srgbClr val="F4A300"/>
                </a:solidFill>
              </a:rPr>
              <a:t>Bar (Trailing Party Count)</a:t>
            </a:r>
            <a:endParaRPr lang="en-US" sz="1600"/>
          </a:p>
        </p:txBody>
      </p:sp>
      <p:sp>
        <p:nvSpPr>
          <p:cNvPr id="47" name="Text 45"/>
          <p:cNvSpPr/>
          <p:nvPr/>
        </p:nvSpPr>
        <p:spPr>
          <a:xfrm>
            <a:off x="3931920" y="5047488"/>
            <a:ext cx="8138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600">
                <a:solidFill>
                  <a:srgbClr val="1A1A2E"/>
                </a:solidFill>
              </a:rPr>
              <a:t>Multi-trailing-party seats = hard-fought battles; helps identify swing or three-cornered contests</a:t>
            </a:r>
            <a:endParaRPr lang="en-US" sz="1600"/>
          </a:p>
        </p:txBody>
      </p:sp>
      <p:sp>
        <p:nvSpPr>
          <p:cNvPr id="48" name="Shape 46"/>
          <p:cNvSpPr/>
          <p:nvPr/>
        </p:nvSpPr>
        <p:spPr>
          <a:xfrm>
            <a:off x="274320" y="5413248"/>
            <a:ext cx="11612880" cy="1138554"/>
          </a:xfrm>
          <a:prstGeom prst="rect">
            <a:avLst/>
          </a:prstGeom>
          <a:solidFill>
            <a:srgbClr val="F4A300"/>
          </a:solidFill>
          <a:ln w="12700">
            <a:solidFill>
              <a:srgbClr val="F4A300"/>
            </a:solidFill>
            <a:prstDash val="solid"/>
          </a:ln>
        </p:spPr>
        <p:txBody>
          <a:bodyPr/>
          <a:lstStyle/>
          <a:p>
            <a:endParaRPr lang="en-IN" sz="1600"/>
          </a:p>
        </p:txBody>
      </p:sp>
      <p:sp>
        <p:nvSpPr>
          <p:cNvPr id="49" name="Text 47"/>
          <p:cNvSpPr/>
          <p:nvPr/>
        </p:nvSpPr>
        <p:spPr>
          <a:xfrm>
            <a:off x="274320" y="5699061"/>
            <a:ext cx="11411544" cy="56692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Overall Conclusion: 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2024 Indian elections reveal a clear BJP-led NDA supermajority with 240+ seats and 52% vote share, driven by stronghold constituencies with massive margins. The combination of donut, </a:t>
            </a:r>
            <a:r>
              <a:rPr lang="en-US" sz="1600" dirty="0" err="1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treemap</a:t>
            </a:r>
            <a:r>
              <a:rPr lang="en-US" sz="1600" dirty="0">
                <a:solidFill>
                  <a:schemeClr val="bg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, funnel, and area charts paints a consistent picture of structural dominance. Opposition fragmentation (INC 14.78%, regional parties 5-6% each) is the defining feature of India's current political landscape.</a:t>
            </a:r>
            <a:endParaRPr lang="en-US" sz="16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6EF3A5EDB32D56488B0DDC643CF42108" ma:contentTypeVersion="10" ma:contentTypeDescription="Create a new document." ma:contentTypeScope="" ma:versionID="5ef3afe570f04a94f49894c36710d57d">
  <xsd:schema xmlns:xsd="http://www.w3.org/2001/XMLSchema" xmlns:xs="http://www.w3.org/2001/XMLSchema" xmlns:p="http://schemas.microsoft.com/office/2006/metadata/properties" xmlns:ns3="a4789613-753e-475c-8b55-e18e424f77ea" targetNamespace="http://schemas.microsoft.com/office/2006/metadata/properties" ma:root="true" ma:fieldsID="d5fe07d4bd6b4c7e9b95eb896ff309d1" ns3:_="">
    <xsd:import namespace="a4789613-753e-475c-8b55-e18e424f77ea"/>
    <xsd:element name="properties">
      <xsd:complexType>
        <xsd:sequence>
          <xsd:element name="documentManagement">
            <xsd:complexType>
              <xsd:all>
                <xsd:element ref="ns3:MediaServiceDateTaken" minOccurs="0"/>
                <xsd:element ref="ns3:MediaServiceMetadata" minOccurs="0"/>
                <xsd:element ref="ns3:MediaServiceFastMetadata" minOccurs="0"/>
                <xsd:element ref="ns3:MediaServiceSearchProperties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ServiceOCR" minOccurs="0"/>
                <xsd:element ref="ns3:MediaLengthInSeconds" minOccurs="0"/>
                <xsd:element ref="ns3:_activity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4789613-753e-475c-8b55-e18e424f77ea" elementFormDefault="qualified">
    <xsd:import namespace="http://schemas.microsoft.com/office/2006/documentManagement/types"/>
    <xsd:import namespace="http://schemas.microsoft.com/office/infopath/2007/PartnerControls"/>
    <xsd:element name="MediaServiceDateTaken" ma:index="8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Metadata" ma:index="9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0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1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SystemTags" ma:index="12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LengthInSeconds" ma:index="16" nillable="true" ma:displayName="MediaLengthInSeconds" ma:hidden="true" ma:internalName="MediaLengthInSeconds" ma:readOnly="true">
      <xsd:simpleType>
        <xsd:restriction base="dms:Unknown"/>
      </xsd:simpleType>
    </xsd:element>
    <xsd:element name="_activity" ma:index="17" nillable="true" ma:displayName="_activity" ma:hidden="true" ma:internalName="_activity">
      <xsd:simpleType>
        <xsd:restriction base="dms:Note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a4789613-753e-475c-8b55-e18e424f77ea" xsi:nil="true"/>
  </documentManagement>
</p:properties>
</file>

<file path=customXml/itemProps1.xml><?xml version="1.0" encoding="utf-8"?>
<ds:datastoreItem xmlns:ds="http://schemas.openxmlformats.org/officeDocument/2006/customXml" ds:itemID="{871A7742-3E0F-44F7-A3D7-FA1AD1F6F3A1}">
  <ds:schemaRefs>
    <ds:schemaRef ds:uri="a4789613-753e-475c-8b55-e18e424f77ea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8A29AB89-91EB-40D7-969E-D127004E1D07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A20368B2-27DD-4396-A3D1-6DC8944862B3}">
  <ds:schemaRefs>
    <ds:schemaRef ds:uri="http://www.w3.org/XML/1998/namespace"/>
    <ds:schemaRef ds:uri="http://purl.org/dc/dcmitype/"/>
    <ds:schemaRef ds:uri="http://schemas.microsoft.com/office/2006/metadata/properties"/>
    <ds:schemaRef ds:uri="http://schemas.microsoft.com/office/2006/documentManagement/types"/>
    <ds:schemaRef ds:uri="http://purl.org/dc/terms/"/>
    <ds:schemaRef ds:uri="http://purl.org/dc/elements/1.1/"/>
    <ds:schemaRef ds:uri="http://schemas.microsoft.com/office/infopath/2007/PartnerControls"/>
    <ds:schemaRef ds:uri="http://schemas.openxmlformats.org/package/2006/metadata/core-properties"/>
    <ds:schemaRef ds:uri="a4789613-753e-475c-8b55-e18e424f77ea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98</TotalTime>
  <Words>1719</Words>
  <Application>Microsoft Office PowerPoint</Application>
  <PresentationFormat>Widescreen</PresentationFormat>
  <Paragraphs>184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3" baseType="lpstr">
      <vt:lpstr>Amasis MT Pro Light</vt:lpstr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Pranika.S</cp:lastModifiedBy>
  <cp:revision>3</cp:revision>
  <dcterms:created xsi:type="dcterms:W3CDTF">2026-05-06T03:33:29Z</dcterms:created>
  <dcterms:modified xsi:type="dcterms:W3CDTF">2026-05-07T07:16:42Z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0x0101006EF3A5EDB32D56488B0DDC643CF42108</vt:lpwstr>
  </property>
</Properties>
</file>